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1"/>
  </p:notesMasterIdLst>
  <p:sldIdLst>
    <p:sldId id="2767" r:id="rId5"/>
    <p:sldId id="263" r:id="rId6"/>
    <p:sldId id="257" r:id="rId7"/>
    <p:sldId id="259" r:id="rId8"/>
    <p:sldId id="2768"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95"/>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2/12/2026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1761072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2/12/2026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2/12/2026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2/12/2026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2/12/2026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2/12/2026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2/12/2026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2/12/2026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2/12/2026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2/12/2026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2/12/2026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2/12/2026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2/12/2026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2/12/2026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2/12/2026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2/12/2026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2/12/2026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2/12/2026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2/12/2026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2/12/2026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2/12/2026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2/12/2026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bin"/><Relationship Id="rId1" Type="http://schemas.openxmlformats.org/officeDocument/2006/relationships/slideLayout" Target="../slideLayouts/slideLayout35.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A38E9-D21E-DE68-38AC-F56AEA15B379}"/>
              </a:ext>
            </a:extLst>
          </p:cNvPr>
          <p:cNvSpPr>
            <a:spLocks noGrp="1"/>
          </p:cNvSpPr>
          <p:nvPr>
            <p:ph type="ctrTitle"/>
          </p:nvPr>
        </p:nvSpPr>
        <p:spPr>
          <a:xfrm>
            <a:off x="431172" y="3425399"/>
            <a:ext cx="7685140" cy="2621154"/>
          </a:xfrm>
        </p:spPr>
        <p:txBody>
          <a:bodyPr anchor="b">
            <a:normAutofit/>
          </a:bodyPr>
          <a:lstStyle/>
          <a:p>
            <a:r>
              <a:rPr lang="en-US" dirty="0"/>
              <a:t>Group Contract</a:t>
            </a:r>
          </a:p>
        </p:txBody>
      </p:sp>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431172" y="415057"/>
            <a:ext cx="7685139" cy="1414091"/>
          </a:xfrm>
        </p:spPr>
        <p:txBody>
          <a:bodyPr anchor="t">
            <a:normAutofit/>
          </a:bodyPr>
          <a:lstStyle/>
          <a:p>
            <a:r>
              <a:rPr lang="en-US" dirty="0"/>
              <a:t>University of Illinois Urbana-Champaign //  </a:t>
            </a:r>
            <a:r>
              <a:rPr lang="en-US" dirty="0" err="1"/>
              <a:t>Insper</a:t>
            </a:r>
            <a:endParaRPr lang="en-US" dirty="0"/>
          </a:p>
          <a:p>
            <a:endParaRPr lang="en-US" dirty="0"/>
          </a:p>
        </p:txBody>
      </p:sp>
      <p:sp>
        <p:nvSpPr>
          <p:cNvPr id="11" name="Date Placeholder 10">
            <a:extLst>
              <a:ext uri="{FF2B5EF4-FFF2-40B4-BE49-F238E27FC236}">
                <a16:creationId xmlns:a16="http://schemas.microsoft.com/office/drawing/2014/main" id="{3B60C5C2-A596-7FEB-7260-D4D75F7F7904}"/>
              </a:ext>
            </a:extLst>
          </p:cNvPr>
          <p:cNvSpPr>
            <a:spLocks noGrp="1"/>
          </p:cNvSpPr>
          <p:nvPr>
            <p:ph type="dt" sz="half" idx="10"/>
          </p:nvPr>
        </p:nvSpPr>
        <p:spPr>
          <a:xfrm>
            <a:off x="431172" y="6490524"/>
            <a:ext cx="2841959" cy="336141"/>
          </a:xfrm>
        </p:spPr>
        <p:txBody>
          <a:bodyPr/>
          <a:lstStyle/>
          <a:p>
            <a:pPr lvl="0"/>
            <a:fld id="{A2C196D7-201A-4A3A-B9FA-EDBCED2083FF}" type="datetime1">
              <a:rPr lang="en-US" noProof="0" smtClean="0"/>
              <a:t>2/12/2026</a:t>
            </a:fld>
            <a:endParaRPr lang="en-US" noProof="0" dirty="0"/>
          </a:p>
        </p:txBody>
      </p:sp>
      <p:sp>
        <p:nvSpPr>
          <p:cNvPr id="13" name="Slide Number Placeholder 12">
            <a:extLst>
              <a:ext uri="{FF2B5EF4-FFF2-40B4-BE49-F238E27FC236}">
                <a16:creationId xmlns:a16="http://schemas.microsoft.com/office/drawing/2014/main" id="{6247F861-42CF-FE05-F8FD-7EBB0D76F029}"/>
              </a:ext>
            </a:extLst>
          </p:cNvPr>
          <p:cNvSpPr>
            <a:spLocks noGrp="1"/>
          </p:cNvSpPr>
          <p:nvPr>
            <p:ph type="sldNum" sz="quarter" idx="12"/>
          </p:nvPr>
        </p:nvSpPr>
        <p:spPr>
          <a:xfrm>
            <a:off x="11648431" y="6490524"/>
            <a:ext cx="457200" cy="336141"/>
          </a:xfrm>
        </p:spPr>
        <p:txBody>
          <a:bodyPr/>
          <a:lstStyle/>
          <a:p>
            <a:pPr lvl="0"/>
            <a:fld id="{84C450F2-3BB4-4AE4-8A35-A9D7AEA4C850}" type="slidenum">
              <a:rPr lang="en-US" noProof="0" smtClean="0"/>
              <a:pPr lvl="0"/>
              <a:t>1</a:t>
            </a:fld>
            <a:endParaRPr lang="en-US" noProof="0" dirty="0"/>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p:txBody>
          <a:bodyPr>
            <a:normAutofit/>
          </a:bodyPr>
          <a:lstStyle/>
          <a:p>
            <a:r>
              <a:rPr lang="en-US" dirty="0"/>
              <a:t>Our Topics</a:t>
            </a:r>
          </a:p>
        </p:txBody>
      </p:sp>
      <p:sp>
        <p:nvSpPr>
          <p:cNvPr id="4" name="Content Placeholder 3">
            <a:extLst>
              <a:ext uri="{FF2B5EF4-FFF2-40B4-BE49-F238E27FC236}">
                <a16:creationId xmlns:a16="http://schemas.microsoft.com/office/drawing/2014/main" id="{A8072345-EDED-4266-CFF8-650FF0BB1E47}"/>
              </a:ext>
            </a:extLst>
          </p:cNvPr>
          <p:cNvSpPr>
            <a:spLocks noGrp="1"/>
          </p:cNvSpPr>
          <p:nvPr>
            <p:ph sz="quarter" idx="14"/>
          </p:nvPr>
        </p:nvSpPr>
        <p:spPr/>
        <p:txBody>
          <a:bodyPr>
            <a:normAutofit lnSpcReduction="10000"/>
          </a:bodyPr>
          <a:lstStyle/>
          <a:p>
            <a:pPr marL="0" indent="0">
              <a:buNone/>
            </a:pPr>
            <a:r>
              <a:rPr lang="en-US" sz="1800" dirty="0"/>
              <a:t>We are discussing music and entertainment in the US and </a:t>
            </a:r>
            <a:r>
              <a:rPr lang="en-US" dirty="0"/>
              <a:t>Brazil.</a:t>
            </a:r>
            <a:endParaRPr lang="en-US" sz="1800" dirty="0"/>
          </a:p>
          <a:p>
            <a:pPr marL="0" indent="0">
              <a:buNone/>
            </a:pPr>
            <a:r>
              <a:rPr lang="en-US" b="1" dirty="0"/>
              <a:t>How they influence each other</a:t>
            </a:r>
          </a:p>
          <a:p>
            <a:pPr marL="0" indent="0">
              <a:buNone/>
            </a:pPr>
            <a:r>
              <a:rPr lang="en-US" dirty="0"/>
              <a:t>We begin by discussing how each culture’s music influences the other.</a:t>
            </a:r>
            <a:endParaRPr lang="en-US" sz="1800" dirty="0"/>
          </a:p>
          <a:p>
            <a:pPr marL="0" indent="0">
              <a:buNone/>
            </a:pPr>
            <a:r>
              <a:rPr lang="en-US" b="1" dirty="0"/>
              <a:t>Pop Music and Global Influence</a:t>
            </a:r>
          </a:p>
          <a:p>
            <a:pPr marL="0" indent="0">
              <a:buNone/>
            </a:pPr>
            <a:r>
              <a:rPr lang="en-US" dirty="0"/>
              <a:t>Discussing pop stars who left a lasting impact on both cultures, the current stars who dominate the charts, and how pop music connects the cultures</a:t>
            </a:r>
            <a:endParaRPr lang="en-US" sz="1800" dirty="0"/>
          </a:p>
          <a:p>
            <a:pPr marL="0" indent="0">
              <a:buNone/>
            </a:pPr>
            <a:r>
              <a:rPr lang="en-US" sz="1800" b="1" dirty="0"/>
              <a:t>Comparison of Genres</a:t>
            </a:r>
          </a:p>
          <a:p>
            <a:pPr marL="0" indent="0">
              <a:buNone/>
            </a:pPr>
            <a:r>
              <a:rPr lang="en-US" dirty="0"/>
              <a:t>Comparing Genres between the US and Brazil, how they develop differently in each culture</a:t>
            </a:r>
            <a:endParaRPr lang="en-US" sz="1800" dirty="0"/>
          </a:p>
        </p:txBody>
      </p:sp>
      <p:pic>
        <p:nvPicPr>
          <p:cNvPr id="9" name="Picture Placeholder 8" descr="A group of wood blocks">
            <a:extLst>
              <a:ext uri="{FF2B5EF4-FFF2-40B4-BE49-F238E27FC236}">
                <a16:creationId xmlns:a16="http://schemas.microsoft.com/office/drawing/2014/main" id="{606BD1CA-C191-4496-8931-F725453418B0}"/>
              </a:ext>
            </a:extLst>
          </p:cNvPr>
          <p:cNvPicPr>
            <a:picLocks noGrp="1" noChangeAspect="1"/>
          </p:cNvPicPr>
          <p:nvPr>
            <p:ph type="pic" sz="quarter" idx="15"/>
          </p:nvPr>
        </p:nvPicPr>
        <p:blipFill>
          <a:blip r:embed="rId3" cstate="screen">
            <a:extLst>
              <a:ext uri="{28A0092B-C50C-407E-A947-70E740481C1C}">
                <a14:useLocalDpi xmlns:a14="http://schemas.microsoft.com/office/drawing/2010/main"/>
              </a:ext>
            </a:extLst>
          </a:blip>
          <a:srcRect/>
          <a:stretch/>
        </p:blipFill>
        <p:spPr/>
      </p:pic>
      <p:sp>
        <p:nvSpPr>
          <p:cNvPr id="3" name="Date Placeholder 2">
            <a:extLst>
              <a:ext uri="{FF2B5EF4-FFF2-40B4-BE49-F238E27FC236}">
                <a16:creationId xmlns:a16="http://schemas.microsoft.com/office/drawing/2014/main" id="{A5205E06-DEAE-0DD1-4D36-DFAC6C725BED}"/>
              </a:ext>
            </a:extLst>
          </p:cNvPr>
          <p:cNvSpPr>
            <a:spLocks noGrp="1"/>
          </p:cNvSpPr>
          <p:nvPr>
            <p:ph type="dt" sz="half" idx="10"/>
          </p:nvPr>
        </p:nvSpPr>
        <p:spPr/>
        <p:txBody>
          <a:bodyPr/>
          <a:lstStyle/>
          <a:p>
            <a:fld id="{CE5A4445-5DD2-41DC-BDE3-6A90E266904E}" type="datetime1">
              <a:rPr lang="en-US" smtClean="0"/>
              <a:t>2/12/2026</a:t>
            </a:fld>
            <a:endParaRPr lang="en-US" dirty="0"/>
          </a:p>
        </p:txBody>
      </p:sp>
      <p:sp>
        <p:nvSpPr>
          <p:cNvPr id="5" name="Footer Placeholder 4">
            <a:extLst>
              <a:ext uri="{FF2B5EF4-FFF2-40B4-BE49-F238E27FC236}">
                <a16:creationId xmlns:a16="http://schemas.microsoft.com/office/drawing/2014/main" id="{726F804B-D6FC-83A9-36FC-E721C009E2DB}"/>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2AEFE3EB-673E-77EF-2980-BA6EC57A519F}"/>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Tree>
    <p:extLst>
      <p:ext uri="{BB962C8B-B14F-4D97-AF65-F5344CB8AC3E}">
        <p14:creationId xmlns:p14="http://schemas.microsoft.com/office/powerpoint/2010/main" val="194137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429768" y="411480"/>
            <a:ext cx="11045952" cy="1828800"/>
          </a:xfrm>
        </p:spPr>
        <p:txBody>
          <a:bodyPr>
            <a:normAutofit fontScale="90000"/>
          </a:bodyPr>
          <a:lstStyle/>
          <a:p>
            <a:r>
              <a:rPr lang="en-US" dirty="0"/>
              <a:t>Outline</a:t>
            </a:r>
            <a:br>
              <a:rPr lang="en-US" dirty="0"/>
            </a:br>
            <a:r>
              <a:rPr lang="en-US" dirty="0"/>
              <a:t>&amp; </a:t>
            </a:r>
            <a:br>
              <a:rPr lang="en-US" dirty="0"/>
            </a:br>
            <a:r>
              <a:rPr lang="en-US" dirty="0"/>
              <a:t>Work </a:t>
            </a:r>
            <a:br>
              <a:rPr lang="en-US" dirty="0"/>
            </a:br>
            <a:r>
              <a:rPr lang="en-US" dirty="0"/>
              <a:t>Breakup</a:t>
            </a:r>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6096000" y="121920"/>
            <a:ext cx="5202936" cy="7071359"/>
          </a:xfrm>
        </p:spPr>
        <p:txBody>
          <a:bodyPr vert="horz" lIns="91440" tIns="45720" rIns="91440" bIns="45720" rtlCol="0" anchor="t">
            <a:normAutofit/>
          </a:bodyPr>
          <a:lstStyle/>
          <a:p>
            <a:pPr marL="0" indent="0">
              <a:buNone/>
            </a:pPr>
            <a:endParaRPr lang="en-US" dirty="0"/>
          </a:p>
          <a:p>
            <a:r>
              <a:rPr lang="en-US" sz="2000" dirty="0"/>
              <a:t> Influence of American Music in Brazil (Sylvain)</a:t>
            </a:r>
          </a:p>
          <a:p>
            <a:r>
              <a:rPr lang="en-US" sz="2000" dirty="0"/>
              <a:t>Influence of Brazilian Music in America (Sylvain)</a:t>
            </a:r>
          </a:p>
          <a:p>
            <a:r>
              <a:rPr lang="en-US" sz="2000" dirty="0"/>
              <a:t>Pop Music (Robert)</a:t>
            </a:r>
          </a:p>
          <a:p>
            <a:r>
              <a:rPr lang="en-US" sz="2000" dirty="0"/>
              <a:t>Rock: US vs Brazil (Robert)</a:t>
            </a:r>
          </a:p>
          <a:p>
            <a:r>
              <a:rPr lang="en-US" sz="2000" dirty="0"/>
              <a:t>Forro vs Swing (Fernanda)</a:t>
            </a:r>
          </a:p>
          <a:p>
            <a:r>
              <a:rPr lang="en-US" sz="2000" dirty="0"/>
              <a:t>Funk: US vs Brazil (Fernanda)</a:t>
            </a:r>
          </a:p>
          <a:p>
            <a:r>
              <a:rPr lang="en-US" sz="2000" dirty="0"/>
              <a:t>Jazz vs Bossa Nova (Sylvain)</a:t>
            </a:r>
          </a:p>
          <a:p>
            <a:r>
              <a:rPr lang="en-US" sz="2000" dirty="0"/>
              <a:t>Club Music: US vs Brazil (Fred)</a:t>
            </a:r>
          </a:p>
          <a:p>
            <a:r>
              <a:rPr lang="en-US" sz="2000" dirty="0"/>
              <a:t>Conclusion (Fred)</a:t>
            </a:r>
          </a:p>
        </p:txBody>
      </p:sp>
      <p:sp>
        <p:nvSpPr>
          <p:cNvPr id="4" name="Date Placeholder 3">
            <a:extLst>
              <a:ext uri="{FF2B5EF4-FFF2-40B4-BE49-F238E27FC236}">
                <a16:creationId xmlns:a16="http://schemas.microsoft.com/office/drawing/2014/main" id="{24E602D5-209F-C183-95CC-735D34DC9419}"/>
              </a:ext>
            </a:extLst>
          </p:cNvPr>
          <p:cNvSpPr>
            <a:spLocks noGrp="1"/>
          </p:cNvSpPr>
          <p:nvPr>
            <p:ph type="dt" sz="half" idx="10"/>
          </p:nvPr>
        </p:nvSpPr>
        <p:spPr/>
        <p:txBody>
          <a:bodyPr/>
          <a:lstStyle/>
          <a:p>
            <a:fld id="{2990712A-E8AC-4933-9DE4-16CA7BD51374}" type="datetime1">
              <a:rPr lang="en-US" smtClean="0"/>
              <a:t>2/12/2026</a:t>
            </a:fld>
            <a:endParaRPr lang="en-US" dirty="0"/>
          </a:p>
        </p:txBody>
      </p:sp>
      <p:sp>
        <p:nvSpPr>
          <p:cNvPr id="6" name="Slide Number Placeholder 5">
            <a:extLst>
              <a:ext uri="{FF2B5EF4-FFF2-40B4-BE49-F238E27FC236}">
                <a16:creationId xmlns:a16="http://schemas.microsoft.com/office/drawing/2014/main" id="{5CCDC894-A40D-FD0D-CF41-FEE5AF09BACB}"/>
              </a:ext>
            </a:extLst>
          </p:cNvPr>
          <p:cNvSpPr>
            <a:spLocks noGrp="1"/>
          </p:cNvSpPr>
          <p:nvPr>
            <p:ph type="sldNum" sz="quarter" idx="12"/>
          </p:nvPr>
        </p:nvSpPr>
        <p:spPr/>
        <p:txBody>
          <a:bodyPr/>
          <a:lstStyle/>
          <a:p>
            <a:fld id="{CC057153-B650-4DEB-B370-79DDCFDCE934}" type="slidenum">
              <a:rPr lang="en-US" smtClean="0"/>
              <a:t>3</a:t>
            </a:fld>
            <a:endParaRPr lang="en-US" dirty="0"/>
          </a:p>
        </p:txBody>
      </p:sp>
    </p:spTree>
    <p:extLst>
      <p:ext uri="{BB962C8B-B14F-4D97-AF65-F5344CB8AC3E}">
        <p14:creationId xmlns:p14="http://schemas.microsoft.com/office/powerpoint/2010/main" val="4216523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33A0-1764-3DC0-A9D7-7733B04AFC75}"/>
              </a:ext>
            </a:extLst>
          </p:cNvPr>
          <p:cNvSpPr>
            <a:spLocks noGrp="1"/>
          </p:cNvSpPr>
          <p:nvPr>
            <p:ph type="title"/>
          </p:nvPr>
        </p:nvSpPr>
        <p:spPr>
          <a:xfrm>
            <a:off x="1499616" y="1524002"/>
            <a:ext cx="9198864" cy="2871216"/>
          </a:xfrm>
        </p:spPr>
        <p:txBody>
          <a:bodyPr>
            <a:normAutofit fontScale="90000"/>
          </a:bodyPr>
          <a:lstStyle/>
          <a:p>
            <a:r>
              <a:rPr lang="en-US" u="sng" dirty="0"/>
              <a:t>Schedule</a:t>
            </a:r>
            <a:br>
              <a:rPr lang="en-US" dirty="0"/>
            </a:br>
            <a:r>
              <a:rPr lang="en-US" sz="2800" dirty="0"/>
              <a:t>Feb 12: Dividing up work, defining goals</a:t>
            </a:r>
            <a:br>
              <a:rPr lang="en-US" sz="2800" dirty="0"/>
            </a:br>
            <a:r>
              <a:rPr lang="en-US" sz="2800" dirty="0"/>
              <a:t>Offline – Work on our individual slides</a:t>
            </a:r>
            <a:br>
              <a:rPr lang="en-US" sz="2800" dirty="0"/>
            </a:br>
            <a:r>
              <a:rPr lang="en-US" sz="2800" dirty="0"/>
              <a:t>Feb 20: Meet (10am CST), Review slides and Recommend improvements</a:t>
            </a:r>
            <a:br>
              <a:rPr lang="en-US" sz="2800" dirty="0"/>
            </a:br>
            <a:r>
              <a:rPr lang="en-US" sz="2800" dirty="0"/>
              <a:t>Offline – Work on improvements, practice presentation</a:t>
            </a:r>
            <a:br>
              <a:rPr lang="en-US" sz="2800" dirty="0"/>
            </a:br>
            <a:r>
              <a:rPr lang="en-US" sz="2800" dirty="0"/>
              <a:t>Feb 27: Meet (10am CST), Practice Presentation</a:t>
            </a:r>
          </a:p>
        </p:txBody>
      </p:sp>
      <p:sp>
        <p:nvSpPr>
          <p:cNvPr id="3" name="Subtitle 2">
            <a:extLst>
              <a:ext uri="{FF2B5EF4-FFF2-40B4-BE49-F238E27FC236}">
                <a16:creationId xmlns:a16="http://schemas.microsoft.com/office/drawing/2014/main" id="{8DC6822A-D1D9-EA6C-D8F4-6F6AB9565D17}"/>
              </a:ext>
            </a:extLst>
          </p:cNvPr>
          <p:cNvSpPr>
            <a:spLocks noGrp="1"/>
          </p:cNvSpPr>
          <p:nvPr>
            <p:ph sz="quarter" idx="13"/>
          </p:nvPr>
        </p:nvSpPr>
        <p:spPr>
          <a:xfrm>
            <a:off x="1499616" y="5376672"/>
            <a:ext cx="9198864" cy="466344"/>
          </a:xfrm>
        </p:spPr>
        <p:txBody>
          <a:bodyPr>
            <a:normAutofit lnSpcReduction="10000"/>
          </a:bodyPr>
          <a:lstStyle/>
          <a:p>
            <a:r>
              <a:rPr lang="en-US" dirty="0"/>
              <a:t>Agreed to meet Fridays, 10am </a:t>
            </a:r>
            <a:r>
              <a:rPr lang="en-US" dirty="0" err="1"/>
              <a:t>cST</a:t>
            </a:r>
            <a:r>
              <a:rPr lang="en-US" dirty="0"/>
              <a:t>/1pm</a:t>
            </a:r>
          </a:p>
          <a:p>
            <a:endParaRPr lang="en-US" dirty="0"/>
          </a:p>
        </p:txBody>
      </p:sp>
      <p:sp>
        <p:nvSpPr>
          <p:cNvPr id="4" name="Date Placeholder 3">
            <a:extLst>
              <a:ext uri="{FF2B5EF4-FFF2-40B4-BE49-F238E27FC236}">
                <a16:creationId xmlns:a16="http://schemas.microsoft.com/office/drawing/2014/main" id="{D8F20E4A-2DA7-367F-889E-11AF801A382F}"/>
              </a:ext>
            </a:extLst>
          </p:cNvPr>
          <p:cNvSpPr>
            <a:spLocks noGrp="1"/>
          </p:cNvSpPr>
          <p:nvPr>
            <p:ph type="dt" sz="half" idx="10"/>
          </p:nvPr>
        </p:nvSpPr>
        <p:spPr/>
        <p:txBody>
          <a:bodyPr/>
          <a:lstStyle/>
          <a:p>
            <a:fld id="{F3C46E4F-8270-497D-A4DE-9B37A9C4BC18}" type="datetime1">
              <a:rPr lang="en-US" smtClean="0"/>
              <a:t>2/12/2026</a:t>
            </a:fld>
            <a:endParaRPr lang="en-US" dirty="0"/>
          </a:p>
        </p:txBody>
      </p:sp>
      <p:sp>
        <p:nvSpPr>
          <p:cNvPr id="5" name="Footer Placeholder 4">
            <a:extLst>
              <a:ext uri="{FF2B5EF4-FFF2-40B4-BE49-F238E27FC236}">
                <a16:creationId xmlns:a16="http://schemas.microsoft.com/office/drawing/2014/main" id="{73D0C200-7BBC-B1AA-6E27-4596490E6089}"/>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1EA7C8A9-3ADD-70A8-B9C7-245046BFADA7}"/>
              </a:ext>
            </a:extLst>
          </p:cNvPr>
          <p:cNvSpPr>
            <a:spLocks noGrp="1"/>
          </p:cNvSpPr>
          <p:nvPr>
            <p:ph type="sldNum" sz="quarter" idx="12"/>
          </p:nvPr>
        </p:nvSpPr>
        <p:spPr/>
        <p:txBody>
          <a:bodyPr/>
          <a:lstStyle/>
          <a:p>
            <a:fld id="{CC057153-B650-4DEB-B370-79DDCFDCE934}" type="slidenum">
              <a:rPr lang="en-US" smtClean="0"/>
              <a:pPr/>
              <a:t>4</a:t>
            </a:fld>
            <a:endParaRPr lang="en-US" dirty="0"/>
          </a:p>
        </p:txBody>
      </p:sp>
    </p:spTree>
    <p:extLst>
      <p:ext uri="{BB962C8B-B14F-4D97-AF65-F5344CB8AC3E}">
        <p14:creationId xmlns:p14="http://schemas.microsoft.com/office/powerpoint/2010/main" val="147103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72A4-EFE6-677D-0CB4-042073718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33A0B-5FE2-EA68-511D-C39553FD7BC2}"/>
              </a:ext>
            </a:extLst>
          </p:cNvPr>
          <p:cNvSpPr>
            <a:spLocks noGrp="1"/>
          </p:cNvSpPr>
          <p:nvPr>
            <p:ph type="title"/>
          </p:nvPr>
        </p:nvSpPr>
        <p:spPr>
          <a:xfrm>
            <a:off x="429768" y="411480"/>
            <a:ext cx="11045952" cy="1828800"/>
          </a:xfrm>
        </p:spPr>
        <p:txBody>
          <a:bodyPr>
            <a:normAutofit fontScale="90000"/>
          </a:bodyPr>
          <a:lstStyle/>
          <a:p>
            <a:r>
              <a:rPr lang="en-US"/>
              <a:t>Problem</a:t>
            </a:r>
            <a:br>
              <a:rPr lang="en-US"/>
            </a:br>
            <a:r>
              <a:rPr lang="en-US"/>
              <a:t>solving</a:t>
            </a:r>
          </a:p>
        </p:txBody>
      </p:sp>
      <p:sp>
        <p:nvSpPr>
          <p:cNvPr id="3" name="Content Placeholder 2">
            <a:extLst>
              <a:ext uri="{FF2B5EF4-FFF2-40B4-BE49-F238E27FC236}">
                <a16:creationId xmlns:a16="http://schemas.microsoft.com/office/drawing/2014/main" id="{2064AB82-DD08-8AED-E0CA-175EE2B12316}"/>
              </a:ext>
            </a:extLst>
          </p:cNvPr>
          <p:cNvSpPr>
            <a:spLocks noGrp="1"/>
          </p:cNvSpPr>
          <p:nvPr>
            <p:ph sz="quarter" idx="13"/>
          </p:nvPr>
        </p:nvSpPr>
        <p:spPr>
          <a:xfrm>
            <a:off x="6259286" y="424302"/>
            <a:ext cx="5624757" cy="6239812"/>
          </a:xfrm>
        </p:spPr>
        <p:txBody>
          <a:bodyPr vert="horz" lIns="91440" tIns="45720" rIns="91440" bIns="45720" rtlCol="0" anchor="t">
            <a:normAutofit/>
          </a:bodyPr>
          <a:lstStyle/>
          <a:p>
            <a:pPr marL="0" indent="0">
              <a:buNone/>
            </a:pPr>
            <a:r>
              <a:rPr lang="en-US" sz="1900" b="1">
                <a:latin typeface="Aptos"/>
              </a:rPr>
              <a:t>ATTENDANCE &amp; RESPONSABILITIES</a:t>
            </a:r>
          </a:p>
          <a:p>
            <a:pPr marL="0" indent="0">
              <a:buNone/>
            </a:pPr>
            <a:r>
              <a:rPr lang="en-US">
                <a:ea typeface="+mn-lt"/>
                <a:cs typeface="+mn-lt"/>
              </a:rPr>
              <a:t>If someone is not present at one of the scheduled meetings without informing the other members, or if someone does not complete their part of the work before the next meeting, we will first discuss it together to understand why this situation occurred. Then, we will try to determine the best solution according to the circumstances.</a:t>
            </a:r>
            <a:endParaRPr lang="en-US"/>
          </a:p>
          <a:p>
            <a:pPr marL="0" indent="0">
              <a:buNone/>
            </a:pPr>
            <a:r>
              <a:rPr lang="en-US" sz="1900" b="1">
                <a:latin typeface="Aptos"/>
              </a:rPr>
              <a:t>OUR APPROACH</a:t>
            </a:r>
          </a:p>
          <a:p>
            <a:pPr marL="0" indent="0">
              <a:buNone/>
            </a:pPr>
            <a:r>
              <a:rPr lang="en-US">
                <a:ea typeface="+mn-lt"/>
                <a:cs typeface="+mn-lt"/>
              </a:rPr>
              <a:t>We will not have a strict policy regarding these situations, but instead we will adapt the solution depending on each case after discussing it in a meeting.</a:t>
            </a:r>
            <a:endParaRPr lang="en-US"/>
          </a:p>
          <a:p>
            <a:pPr marL="342900" indent="-342900">
              <a:buFont typeface="Neue Haas Grotesk Text Pro"/>
              <a:buAutoNum type="arabicPeriod"/>
            </a:pPr>
            <a:endParaRPr lang="en-US"/>
          </a:p>
        </p:txBody>
      </p:sp>
      <p:sp>
        <p:nvSpPr>
          <p:cNvPr id="4" name="Date Placeholder 3">
            <a:extLst>
              <a:ext uri="{FF2B5EF4-FFF2-40B4-BE49-F238E27FC236}">
                <a16:creationId xmlns:a16="http://schemas.microsoft.com/office/drawing/2014/main" id="{8FC4FB8E-3B6D-5B68-A8A6-69464C34B8CA}"/>
              </a:ext>
            </a:extLst>
          </p:cNvPr>
          <p:cNvSpPr>
            <a:spLocks noGrp="1"/>
          </p:cNvSpPr>
          <p:nvPr>
            <p:ph type="dt" sz="half" idx="10"/>
          </p:nvPr>
        </p:nvSpPr>
        <p:spPr/>
        <p:txBody>
          <a:bodyPr/>
          <a:lstStyle/>
          <a:p>
            <a:fld id="{2990712A-E8AC-4933-9DE4-16CA7BD51374}" type="datetime1">
              <a:rPr lang="en-US" smtClean="0"/>
              <a:t>2/12/2026</a:t>
            </a:fld>
            <a:endParaRPr lang="en-US"/>
          </a:p>
        </p:txBody>
      </p:sp>
      <p:sp>
        <p:nvSpPr>
          <p:cNvPr id="6" name="Slide Number Placeholder 5">
            <a:extLst>
              <a:ext uri="{FF2B5EF4-FFF2-40B4-BE49-F238E27FC236}">
                <a16:creationId xmlns:a16="http://schemas.microsoft.com/office/drawing/2014/main" id="{19DF125C-1DD7-4414-3D3D-031F86D7320F}"/>
              </a:ext>
            </a:extLst>
          </p:cNvPr>
          <p:cNvSpPr>
            <a:spLocks noGrp="1"/>
          </p:cNvSpPr>
          <p:nvPr>
            <p:ph type="sldNum" sz="quarter" idx="12"/>
          </p:nvPr>
        </p:nvSpPr>
        <p:spPr/>
        <p:txBody>
          <a:bodyPr/>
          <a:lstStyle/>
          <a:p>
            <a:fld id="{CC057153-B650-4DEB-B370-79DDCFDCE934}" type="slidenum">
              <a:rPr lang="en-US" smtClean="0"/>
              <a:t>5</a:t>
            </a:fld>
            <a:endParaRPr lang="en-US"/>
          </a:p>
        </p:txBody>
      </p:sp>
      <p:sp>
        <p:nvSpPr>
          <p:cNvPr id="7" name="Content Placeholder 2">
            <a:extLst>
              <a:ext uri="{FF2B5EF4-FFF2-40B4-BE49-F238E27FC236}">
                <a16:creationId xmlns:a16="http://schemas.microsoft.com/office/drawing/2014/main" id="{74C80560-D829-665A-E59E-6B4609FE3F29}"/>
              </a:ext>
            </a:extLst>
          </p:cNvPr>
          <p:cNvSpPr txBox="1">
            <a:spLocks/>
          </p:cNvSpPr>
          <p:nvPr/>
        </p:nvSpPr>
        <p:spPr>
          <a:xfrm>
            <a:off x="315686" y="2846070"/>
            <a:ext cx="5636852" cy="3814717"/>
          </a:xfrm>
          <a:prstGeom prst="rect">
            <a:avLst/>
          </a:prstGeom>
        </p:spPr>
        <p:txBody>
          <a:bodyPr vert="horz" lIns="91440" tIns="45720" rIns="91440" bIns="45720" rtlCol="0" anchor="t">
            <a:normAutofit lnSpcReduction="10000"/>
          </a:bodyPr>
          <a:lstStyle>
            <a:lvl1pPr marL="457200" indent="-457200" algn="l" defTabSz="914400" rtl="0" eaLnBrk="1" latinLnBrk="0" hangingPunct="1">
              <a:lnSpc>
                <a:spcPct val="120000"/>
              </a:lnSpc>
              <a:spcBef>
                <a:spcPts val="1000"/>
              </a:spcBef>
              <a:buFont typeface="+mj-lt"/>
              <a:buAutoNum type="arabicPeriod"/>
              <a:defRPr lang="en-US" sz="1800" kern="1200" dirty="0">
                <a:solidFill>
                  <a:schemeClr val="tx1"/>
                </a:solidFill>
                <a:latin typeface="+mn-lt"/>
                <a:ea typeface="+mn-ea"/>
                <a:cs typeface="+mn-cs"/>
              </a:defRPr>
            </a:lvl1pPr>
            <a:lvl2pPr marL="571500" indent="-342900" algn="l" defTabSz="914400" rtl="0" eaLnBrk="1" latinLnBrk="0" hangingPunct="1">
              <a:lnSpc>
                <a:spcPct val="120000"/>
              </a:lnSpc>
              <a:spcBef>
                <a:spcPts val="500"/>
              </a:spcBef>
              <a:buFont typeface="+mj-lt"/>
              <a:buAutoNum type="alphaLcPeriod"/>
              <a:defRPr lang="en-US" sz="1600" kern="1200" dirty="0">
                <a:solidFill>
                  <a:schemeClr val="tx1"/>
                </a:solidFill>
                <a:latin typeface="+mn-lt"/>
                <a:ea typeface="+mn-ea"/>
                <a:cs typeface="+mn-cs"/>
              </a:defRPr>
            </a:lvl2pPr>
            <a:lvl3pPr marL="800100" indent="-342900" algn="l" defTabSz="914400" rtl="0" eaLnBrk="1" latinLnBrk="0" hangingPunct="1">
              <a:lnSpc>
                <a:spcPct val="120000"/>
              </a:lnSpc>
              <a:spcBef>
                <a:spcPts val="500"/>
              </a:spcBef>
              <a:buFont typeface="+mj-lt"/>
              <a:buAutoNum type="romanLcPeriod"/>
              <a:defRPr lang="en-US" sz="1400" kern="1200" dirty="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mj-lt"/>
              <a:buAutoNum type="arabicParenR"/>
              <a:defRPr lang="en-US" sz="1200" kern="1200" dirty="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mj-lt"/>
              <a:buAutoNum type="alphaLcParenR"/>
              <a:defRPr lang="en-US" sz="11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b="1">
                <a:latin typeface="Aptos"/>
              </a:rPr>
              <a:t>TEAM COMMUNICATION</a:t>
            </a:r>
          </a:p>
          <a:p>
            <a:pPr marL="0" indent="0">
              <a:buNone/>
            </a:pPr>
            <a:r>
              <a:rPr lang="pt-BR">
                <a:ea typeface="+mn-lt"/>
                <a:cs typeface="+mn-lt"/>
              </a:rPr>
              <a:t>To ensure open and constructive discussions, everyone is encouraged to speak freely and share their point of view.</a:t>
            </a:r>
          </a:p>
          <a:p>
            <a:pPr marL="0" indent="0">
              <a:buNone/>
            </a:pPr>
            <a:r>
              <a:rPr lang="pt-BR" b="1">
                <a:latin typeface="Aptos"/>
              </a:rPr>
              <a:t>DECISION-MAKING PROCESS</a:t>
            </a:r>
          </a:p>
          <a:p>
            <a:pPr marL="0" indent="0">
              <a:buNone/>
            </a:pPr>
            <a:r>
              <a:rPr lang="pt-BR" err="1">
                <a:ea typeface="+mn-lt"/>
                <a:cs typeface="+mn-lt"/>
              </a:rPr>
              <a:t>If</a:t>
            </a:r>
            <a:r>
              <a:rPr lang="pt-BR">
                <a:ea typeface="+mn-lt"/>
                <a:cs typeface="+mn-lt"/>
              </a:rPr>
              <a:t> </a:t>
            </a:r>
            <a:r>
              <a:rPr lang="pt-BR" err="1">
                <a:ea typeface="+mn-lt"/>
                <a:cs typeface="+mn-lt"/>
              </a:rPr>
              <a:t>we</a:t>
            </a:r>
            <a:r>
              <a:rPr lang="pt-BR">
                <a:ea typeface="+mn-lt"/>
                <a:cs typeface="+mn-lt"/>
              </a:rPr>
              <a:t> </a:t>
            </a:r>
            <a:r>
              <a:rPr lang="pt-BR" err="1">
                <a:ea typeface="+mn-lt"/>
                <a:cs typeface="+mn-lt"/>
              </a:rPr>
              <a:t>disagree</a:t>
            </a:r>
            <a:r>
              <a:rPr lang="pt-BR">
                <a:ea typeface="+mn-lt"/>
                <a:cs typeface="+mn-lt"/>
              </a:rPr>
              <a:t> </a:t>
            </a:r>
            <a:r>
              <a:rPr lang="pt-BR" err="1">
                <a:ea typeface="+mn-lt"/>
                <a:cs typeface="+mn-lt"/>
              </a:rPr>
              <a:t>about</a:t>
            </a:r>
            <a:r>
              <a:rPr lang="pt-BR">
                <a:ea typeface="+mn-lt"/>
                <a:cs typeface="+mn-lt"/>
              </a:rPr>
              <a:t> </a:t>
            </a:r>
            <a:r>
              <a:rPr lang="pt-BR" err="1">
                <a:ea typeface="+mn-lt"/>
                <a:cs typeface="+mn-lt"/>
              </a:rPr>
              <a:t>the</a:t>
            </a:r>
            <a:r>
              <a:rPr lang="pt-BR">
                <a:ea typeface="+mn-lt"/>
                <a:cs typeface="+mn-lt"/>
              </a:rPr>
              <a:t> </a:t>
            </a:r>
            <a:r>
              <a:rPr lang="pt-BR" err="1">
                <a:ea typeface="+mn-lt"/>
                <a:cs typeface="+mn-lt"/>
              </a:rPr>
              <a:t>quality</a:t>
            </a:r>
            <a:r>
              <a:rPr lang="pt-BR">
                <a:ea typeface="+mn-lt"/>
                <a:cs typeface="+mn-lt"/>
              </a:rPr>
              <a:t> </a:t>
            </a:r>
            <a:r>
              <a:rPr lang="pt-BR" err="1">
                <a:ea typeface="+mn-lt"/>
                <a:cs typeface="+mn-lt"/>
              </a:rPr>
              <a:t>of</a:t>
            </a:r>
            <a:r>
              <a:rPr lang="pt-BR">
                <a:ea typeface="+mn-lt"/>
                <a:cs typeface="+mn-lt"/>
              </a:rPr>
              <a:t> </a:t>
            </a:r>
            <a:r>
              <a:rPr lang="pt-BR" err="1">
                <a:ea typeface="+mn-lt"/>
                <a:cs typeface="+mn-lt"/>
              </a:rPr>
              <a:t>the</a:t>
            </a:r>
            <a:r>
              <a:rPr lang="pt-BR">
                <a:ea typeface="+mn-lt"/>
                <a:cs typeface="+mn-lt"/>
              </a:rPr>
              <a:t> </a:t>
            </a:r>
            <a:r>
              <a:rPr lang="pt-BR" err="1">
                <a:ea typeface="+mn-lt"/>
                <a:cs typeface="+mn-lt"/>
              </a:rPr>
              <a:t>work</a:t>
            </a:r>
            <a:r>
              <a:rPr lang="pt-BR">
                <a:ea typeface="+mn-lt"/>
                <a:cs typeface="+mn-lt"/>
              </a:rPr>
              <a:t> </a:t>
            </a:r>
            <a:r>
              <a:rPr lang="pt-BR" err="1">
                <a:ea typeface="+mn-lt"/>
                <a:cs typeface="+mn-lt"/>
              </a:rPr>
              <a:t>or</a:t>
            </a:r>
            <a:r>
              <a:rPr lang="pt-BR">
                <a:ea typeface="+mn-lt"/>
                <a:cs typeface="+mn-lt"/>
              </a:rPr>
              <a:t> </a:t>
            </a:r>
            <a:r>
              <a:rPr lang="pt-BR" err="1">
                <a:ea typeface="+mn-lt"/>
                <a:cs typeface="+mn-lt"/>
              </a:rPr>
              <a:t>the</a:t>
            </a:r>
            <a:r>
              <a:rPr lang="pt-BR">
                <a:ea typeface="+mn-lt"/>
                <a:cs typeface="+mn-lt"/>
              </a:rPr>
              <a:t> </a:t>
            </a:r>
            <a:r>
              <a:rPr lang="pt-BR" err="1">
                <a:ea typeface="+mn-lt"/>
                <a:cs typeface="+mn-lt"/>
              </a:rPr>
              <a:t>strategy</a:t>
            </a:r>
            <a:r>
              <a:rPr lang="pt-BR">
                <a:ea typeface="+mn-lt"/>
                <a:cs typeface="+mn-lt"/>
              </a:rPr>
              <a:t> </a:t>
            </a:r>
            <a:r>
              <a:rPr lang="pt-BR" err="1">
                <a:ea typeface="+mn-lt"/>
                <a:cs typeface="+mn-lt"/>
              </a:rPr>
              <a:t>to</a:t>
            </a:r>
            <a:r>
              <a:rPr lang="pt-BR">
                <a:ea typeface="+mn-lt"/>
                <a:cs typeface="+mn-lt"/>
              </a:rPr>
              <a:t> </a:t>
            </a:r>
            <a:r>
              <a:rPr lang="pt-BR" err="1">
                <a:ea typeface="+mn-lt"/>
                <a:cs typeface="+mn-lt"/>
              </a:rPr>
              <a:t>achieve</a:t>
            </a:r>
            <a:r>
              <a:rPr lang="pt-BR">
                <a:ea typeface="+mn-lt"/>
                <a:cs typeface="+mn-lt"/>
              </a:rPr>
              <a:t> </a:t>
            </a:r>
            <a:r>
              <a:rPr lang="pt-BR" err="1">
                <a:ea typeface="+mn-lt"/>
                <a:cs typeface="+mn-lt"/>
              </a:rPr>
              <a:t>our</a:t>
            </a:r>
            <a:r>
              <a:rPr lang="pt-BR">
                <a:ea typeface="+mn-lt"/>
                <a:cs typeface="+mn-lt"/>
              </a:rPr>
              <a:t> </a:t>
            </a:r>
            <a:r>
              <a:rPr lang="pt-BR" err="1">
                <a:ea typeface="+mn-lt"/>
                <a:cs typeface="+mn-lt"/>
              </a:rPr>
              <a:t>goal</a:t>
            </a:r>
            <a:r>
              <a:rPr lang="pt-BR">
                <a:ea typeface="+mn-lt"/>
                <a:cs typeface="+mn-lt"/>
              </a:rPr>
              <a:t>, </a:t>
            </a:r>
            <a:r>
              <a:rPr lang="pt-BR" err="1">
                <a:ea typeface="+mn-lt"/>
                <a:cs typeface="+mn-lt"/>
              </a:rPr>
              <a:t>we</a:t>
            </a:r>
            <a:r>
              <a:rPr lang="pt-BR">
                <a:ea typeface="+mn-lt"/>
                <a:cs typeface="+mn-lt"/>
              </a:rPr>
              <a:t> </a:t>
            </a:r>
            <a:r>
              <a:rPr lang="pt-BR" err="1">
                <a:ea typeface="+mn-lt"/>
                <a:cs typeface="+mn-lt"/>
              </a:rPr>
              <a:t>will</a:t>
            </a:r>
            <a:r>
              <a:rPr lang="pt-BR">
                <a:ea typeface="+mn-lt"/>
                <a:cs typeface="+mn-lt"/>
              </a:rPr>
              <a:t> organize </a:t>
            </a:r>
            <a:r>
              <a:rPr lang="pt-BR" err="1">
                <a:ea typeface="+mn-lt"/>
                <a:cs typeface="+mn-lt"/>
              </a:rPr>
              <a:t>an</a:t>
            </a:r>
            <a:r>
              <a:rPr lang="pt-BR">
                <a:ea typeface="+mn-lt"/>
                <a:cs typeface="+mn-lt"/>
              </a:rPr>
              <a:t> </a:t>
            </a:r>
            <a:r>
              <a:rPr lang="pt-BR" err="1">
                <a:ea typeface="+mn-lt"/>
                <a:cs typeface="+mn-lt"/>
              </a:rPr>
              <a:t>exceptional</a:t>
            </a:r>
            <a:r>
              <a:rPr lang="pt-BR">
                <a:ea typeface="+mn-lt"/>
                <a:cs typeface="+mn-lt"/>
              </a:rPr>
              <a:t> meeting </a:t>
            </a:r>
            <a:r>
              <a:rPr lang="pt-BR" err="1">
                <a:ea typeface="+mn-lt"/>
                <a:cs typeface="+mn-lt"/>
              </a:rPr>
              <a:t>to</a:t>
            </a:r>
            <a:r>
              <a:rPr lang="pt-BR">
                <a:ea typeface="+mn-lt"/>
                <a:cs typeface="+mn-lt"/>
              </a:rPr>
              <a:t> </a:t>
            </a:r>
            <a:r>
              <a:rPr lang="pt-BR" err="1">
                <a:ea typeface="+mn-lt"/>
                <a:cs typeface="+mn-lt"/>
              </a:rPr>
              <a:t>talk</a:t>
            </a:r>
            <a:r>
              <a:rPr lang="pt-BR">
                <a:ea typeface="+mn-lt"/>
                <a:cs typeface="+mn-lt"/>
              </a:rPr>
              <a:t> </a:t>
            </a:r>
            <a:r>
              <a:rPr lang="pt-BR" err="1">
                <a:ea typeface="+mn-lt"/>
                <a:cs typeface="+mn-lt"/>
              </a:rPr>
              <a:t>about</a:t>
            </a:r>
            <a:r>
              <a:rPr lang="pt-BR">
                <a:ea typeface="+mn-lt"/>
                <a:cs typeface="+mn-lt"/>
              </a:rPr>
              <a:t> it, </a:t>
            </a:r>
            <a:r>
              <a:rPr lang="pt-BR" err="1">
                <a:ea typeface="+mn-lt"/>
                <a:cs typeface="+mn-lt"/>
              </a:rPr>
              <a:t>present</a:t>
            </a:r>
            <a:r>
              <a:rPr lang="pt-BR">
                <a:ea typeface="+mn-lt"/>
                <a:cs typeface="+mn-lt"/>
              </a:rPr>
              <a:t> </a:t>
            </a:r>
            <a:r>
              <a:rPr lang="pt-BR" err="1">
                <a:ea typeface="+mn-lt"/>
                <a:cs typeface="+mn-lt"/>
              </a:rPr>
              <a:t>the</a:t>
            </a:r>
            <a:r>
              <a:rPr lang="pt-BR">
                <a:ea typeface="+mn-lt"/>
                <a:cs typeface="+mn-lt"/>
              </a:rPr>
              <a:t> pros </a:t>
            </a:r>
            <a:r>
              <a:rPr lang="pt-BR" err="1">
                <a:ea typeface="+mn-lt"/>
                <a:cs typeface="+mn-lt"/>
              </a:rPr>
              <a:t>and</a:t>
            </a:r>
            <a:r>
              <a:rPr lang="pt-BR">
                <a:ea typeface="+mn-lt"/>
                <a:cs typeface="+mn-lt"/>
              </a:rPr>
              <a:t> </a:t>
            </a:r>
            <a:r>
              <a:rPr lang="pt-BR" err="1">
                <a:ea typeface="+mn-lt"/>
                <a:cs typeface="+mn-lt"/>
              </a:rPr>
              <a:t>cons</a:t>
            </a:r>
            <a:r>
              <a:rPr lang="pt-BR">
                <a:ea typeface="+mn-lt"/>
                <a:cs typeface="+mn-lt"/>
              </a:rPr>
              <a:t> </a:t>
            </a:r>
            <a:r>
              <a:rPr lang="pt-BR" err="1">
                <a:ea typeface="+mn-lt"/>
                <a:cs typeface="+mn-lt"/>
              </a:rPr>
              <a:t>of</a:t>
            </a:r>
            <a:r>
              <a:rPr lang="pt-BR">
                <a:ea typeface="+mn-lt"/>
                <a:cs typeface="+mn-lt"/>
              </a:rPr>
              <a:t> </a:t>
            </a:r>
            <a:r>
              <a:rPr lang="pt-BR" err="1">
                <a:ea typeface="+mn-lt"/>
                <a:cs typeface="+mn-lt"/>
              </a:rPr>
              <a:t>each</a:t>
            </a:r>
            <a:r>
              <a:rPr lang="pt-BR">
                <a:ea typeface="+mn-lt"/>
                <a:cs typeface="+mn-lt"/>
              </a:rPr>
              <a:t> point </a:t>
            </a:r>
            <a:r>
              <a:rPr lang="pt-BR" err="1">
                <a:ea typeface="+mn-lt"/>
                <a:cs typeface="+mn-lt"/>
              </a:rPr>
              <a:t>of</a:t>
            </a:r>
            <a:r>
              <a:rPr lang="pt-BR">
                <a:ea typeface="+mn-lt"/>
                <a:cs typeface="+mn-lt"/>
              </a:rPr>
              <a:t> </a:t>
            </a:r>
            <a:r>
              <a:rPr lang="pt-BR" err="1">
                <a:ea typeface="+mn-lt"/>
                <a:cs typeface="+mn-lt"/>
              </a:rPr>
              <a:t>view</a:t>
            </a:r>
            <a:r>
              <a:rPr lang="pt-BR">
                <a:ea typeface="+mn-lt"/>
                <a:cs typeface="+mn-lt"/>
              </a:rPr>
              <a:t>, </a:t>
            </a:r>
            <a:r>
              <a:rPr lang="pt-BR" err="1">
                <a:ea typeface="+mn-lt"/>
                <a:cs typeface="+mn-lt"/>
              </a:rPr>
              <a:t>and</a:t>
            </a:r>
            <a:r>
              <a:rPr lang="pt-BR">
                <a:ea typeface="+mn-lt"/>
                <a:cs typeface="+mn-lt"/>
              </a:rPr>
              <a:t> </a:t>
            </a:r>
            <a:r>
              <a:rPr lang="pt-BR" err="1">
                <a:ea typeface="+mn-lt"/>
                <a:cs typeface="+mn-lt"/>
              </a:rPr>
              <a:t>then</a:t>
            </a:r>
            <a:r>
              <a:rPr lang="pt-BR">
                <a:ea typeface="+mn-lt"/>
                <a:cs typeface="+mn-lt"/>
              </a:rPr>
              <a:t> </a:t>
            </a:r>
            <a:r>
              <a:rPr lang="pt-BR" err="1">
                <a:ea typeface="+mn-lt"/>
                <a:cs typeface="+mn-lt"/>
              </a:rPr>
              <a:t>proceed</a:t>
            </a:r>
            <a:r>
              <a:rPr lang="pt-BR">
                <a:ea typeface="+mn-lt"/>
                <a:cs typeface="+mn-lt"/>
              </a:rPr>
              <a:t> </a:t>
            </a:r>
            <a:r>
              <a:rPr lang="pt-BR" err="1">
                <a:ea typeface="+mn-lt"/>
                <a:cs typeface="+mn-lt"/>
              </a:rPr>
              <a:t>to</a:t>
            </a:r>
            <a:r>
              <a:rPr lang="pt-BR">
                <a:ea typeface="+mn-lt"/>
                <a:cs typeface="+mn-lt"/>
              </a:rPr>
              <a:t> a vote </a:t>
            </a:r>
            <a:r>
              <a:rPr lang="pt-BR" err="1">
                <a:ea typeface="+mn-lt"/>
                <a:cs typeface="+mn-lt"/>
              </a:rPr>
              <a:t>to</a:t>
            </a:r>
            <a:r>
              <a:rPr lang="pt-BR">
                <a:ea typeface="+mn-lt"/>
                <a:cs typeface="+mn-lt"/>
              </a:rPr>
              <a:t> decide </a:t>
            </a:r>
            <a:r>
              <a:rPr lang="pt-BR" err="1">
                <a:ea typeface="+mn-lt"/>
                <a:cs typeface="+mn-lt"/>
              </a:rPr>
              <a:t>which</a:t>
            </a:r>
            <a:r>
              <a:rPr lang="pt-BR">
                <a:ea typeface="+mn-lt"/>
                <a:cs typeface="+mn-lt"/>
              </a:rPr>
              <a:t> </a:t>
            </a:r>
            <a:r>
              <a:rPr lang="pt-BR" err="1">
                <a:ea typeface="+mn-lt"/>
                <a:cs typeface="+mn-lt"/>
              </a:rPr>
              <a:t>direction</a:t>
            </a:r>
            <a:r>
              <a:rPr lang="pt-BR">
                <a:ea typeface="+mn-lt"/>
                <a:cs typeface="+mn-lt"/>
              </a:rPr>
              <a:t> </a:t>
            </a:r>
            <a:r>
              <a:rPr lang="pt-BR" err="1">
                <a:ea typeface="+mn-lt"/>
                <a:cs typeface="+mn-lt"/>
              </a:rPr>
              <a:t>to</a:t>
            </a:r>
            <a:r>
              <a:rPr lang="pt-BR">
                <a:ea typeface="+mn-lt"/>
                <a:cs typeface="+mn-lt"/>
              </a:rPr>
              <a:t> take.</a:t>
            </a:r>
            <a:endParaRPr lang="pt-BR"/>
          </a:p>
          <a:p>
            <a:endParaRPr lang="pt-BR"/>
          </a:p>
          <a:p>
            <a:pPr marL="342900" indent="-342900"/>
            <a:endParaRPr lang="pt-BR"/>
          </a:p>
        </p:txBody>
      </p:sp>
    </p:spTree>
    <p:extLst>
      <p:ext uri="{BB962C8B-B14F-4D97-AF65-F5344CB8AC3E}">
        <p14:creationId xmlns:p14="http://schemas.microsoft.com/office/powerpoint/2010/main" val="214452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2CCD8EA-EA7C-8648-6703-261B5BAF0014}"/>
              </a:ext>
            </a:extLst>
          </p:cNvPr>
          <p:cNvSpPr>
            <a:spLocks noGrp="1"/>
          </p:cNvSpPr>
          <p:nvPr>
            <p:ph sz="quarter" idx="13"/>
          </p:nvPr>
        </p:nvSpPr>
        <p:spPr/>
        <p:txBody>
          <a:bodyPr/>
          <a:lstStyle/>
          <a:p>
            <a:r>
              <a:rPr lang="en-US" dirty="0"/>
              <a:t>Group Contract</a:t>
            </a:r>
          </a:p>
        </p:txBody>
      </p:sp>
      <p:sp>
        <p:nvSpPr>
          <p:cNvPr id="4" name="Date Placeholder 3">
            <a:extLst>
              <a:ext uri="{FF2B5EF4-FFF2-40B4-BE49-F238E27FC236}">
                <a16:creationId xmlns:a16="http://schemas.microsoft.com/office/drawing/2014/main" id="{0F79EABE-3580-5671-50D4-25E706EDC2ED}"/>
              </a:ext>
            </a:extLst>
          </p:cNvPr>
          <p:cNvSpPr>
            <a:spLocks noGrp="1"/>
          </p:cNvSpPr>
          <p:nvPr>
            <p:ph type="dt" sz="half" idx="10"/>
          </p:nvPr>
        </p:nvSpPr>
        <p:spPr/>
        <p:txBody>
          <a:bodyPr/>
          <a:lstStyle/>
          <a:p>
            <a:fld id="{FE998514-CB2E-43FF-940B-F99B0EA9BFC0}" type="datetime1">
              <a:rPr lang="en-US" smtClean="0"/>
              <a:t>2/12/2026</a:t>
            </a:fld>
            <a:endParaRPr lang="en-US" dirty="0"/>
          </a:p>
        </p:txBody>
      </p:sp>
      <p:sp>
        <p:nvSpPr>
          <p:cNvPr id="6" name="Slide Number Placeholder 5">
            <a:extLst>
              <a:ext uri="{FF2B5EF4-FFF2-40B4-BE49-F238E27FC236}">
                <a16:creationId xmlns:a16="http://schemas.microsoft.com/office/drawing/2014/main" id="{94DC91B8-8829-9453-E93E-4D286CFA09D1}"/>
              </a:ext>
            </a:extLst>
          </p:cNvPr>
          <p:cNvSpPr>
            <a:spLocks noGrp="1"/>
          </p:cNvSpPr>
          <p:nvPr>
            <p:ph type="sldNum" sz="quarter" idx="12"/>
          </p:nvPr>
        </p:nvSpPr>
        <p:spPr/>
        <p:txBody>
          <a:bodyPr/>
          <a:lstStyle/>
          <a:p>
            <a:fld id="{CC057153-B650-4DEB-B370-79DDCFDCE934}" type="slidenum">
              <a:rPr lang="en-US" smtClean="0"/>
              <a:pPr/>
              <a:t>6</a:t>
            </a:fld>
            <a:endParaRPr lang="en-US" dirty="0"/>
          </a:p>
        </p:txBody>
      </p:sp>
      <p:graphicFrame>
        <p:nvGraphicFramePr>
          <p:cNvPr id="8" name="Object 7">
            <a:extLst>
              <a:ext uri="{FF2B5EF4-FFF2-40B4-BE49-F238E27FC236}">
                <a16:creationId xmlns:a16="http://schemas.microsoft.com/office/drawing/2014/main" id="{0A345FEB-54DD-A4C5-AF39-23031CF5A112}"/>
              </a:ext>
            </a:extLst>
          </p:cNvPr>
          <p:cNvGraphicFramePr>
            <a:graphicFrameLocks noChangeAspect="1"/>
          </p:cNvGraphicFramePr>
          <p:nvPr>
            <p:extLst>
              <p:ext uri="{D42A27DB-BD31-4B8C-83A1-F6EECF244321}">
                <p14:modId xmlns:p14="http://schemas.microsoft.com/office/powerpoint/2010/main" val="2396649267"/>
              </p:ext>
            </p:extLst>
          </p:nvPr>
        </p:nvGraphicFramePr>
        <p:xfrm>
          <a:off x="5142971" y="5259917"/>
          <a:ext cx="1584325" cy="517525"/>
        </p:xfrm>
        <a:graphic>
          <a:graphicData uri="http://schemas.openxmlformats.org/presentationml/2006/ole">
            <mc:AlternateContent xmlns:mc="http://schemas.openxmlformats.org/markup-compatibility/2006">
              <mc:Choice xmlns:v="urn:schemas-microsoft-com:vml" Requires="v">
                <p:oleObj name="Packager Shell Object" showAsIcon="1" r:id="rId2" imgW="1584960" imgH="518160" progId="Package">
                  <p:embed/>
                </p:oleObj>
              </mc:Choice>
              <mc:Fallback>
                <p:oleObj name="Packager Shell Object" showAsIcon="1" r:id="rId2" imgW="1584960" imgH="518160" progId="Package">
                  <p:embed/>
                  <p:pic>
                    <p:nvPicPr>
                      <p:cNvPr id="0" name=""/>
                      <p:cNvPicPr/>
                      <p:nvPr/>
                    </p:nvPicPr>
                    <p:blipFill>
                      <a:blip r:embed="rId3"/>
                      <a:stretch>
                        <a:fillRect/>
                      </a:stretch>
                    </p:blipFill>
                    <p:spPr>
                      <a:xfrm>
                        <a:off x="5142971" y="5259917"/>
                        <a:ext cx="1584325" cy="517525"/>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6FBE03B3-66DB-60A4-6A74-039D4C689F2A}"/>
              </a:ext>
            </a:extLst>
          </p:cNvPr>
          <p:cNvPicPr>
            <a:picLocks noChangeAspect="1"/>
          </p:cNvPicPr>
          <p:nvPr/>
        </p:nvPicPr>
        <p:blipFill>
          <a:blip r:embed="rId4"/>
          <a:stretch>
            <a:fillRect/>
          </a:stretch>
        </p:blipFill>
        <p:spPr>
          <a:xfrm>
            <a:off x="304800" y="0"/>
            <a:ext cx="6045256" cy="4947791"/>
          </a:xfrm>
          <a:prstGeom prst="rect">
            <a:avLst/>
          </a:prstGeom>
        </p:spPr>
      </p:pic>
      <p:pic>
        <p:nvPicPr>
          <p:cNvPr id="12" name="Picture 11">
            <a:extLst>
              <a:ext uri="{FF2B5EF4-FFF2-40B4-BE49-F238E27FC236}">
                <a16:creationId xmlns:a16="http://schemas.microsoft.com/office/drawing/2014/main" id="{8F83E8A7-516E-D2CA-6C90-2758989BB07B}"/>
              </a:ext>
            </a:extLst>
          </p:cNvPr>
          <p:cNvPicPr>
            <a:picLocks noChangeAspect="1"/>
          </p:cNvPicPr>
          <p:nvPr/>
        </p:nvPicPr>
        <p:blipFill>
          <a:blip r:embed="rId5"/>
          <a:stretch>
            <a:fillRect/>
          </a:stretch>
        </p:blipFill>
        <p:spPr>
          <a:xfrm>
            <a:off x="6350056" y="0"/>
            <a:ext cx="5825101" cy="4286970"/>
          </a:xfrm>
          <a:prstGeom prst="rect">
            <a:avLst/>
          </a:prstGeom>
        </p:spPr>
      </p:pic>
    </p:spTree>
    <p:extLst>
      <p:ext uri="{BB962C8B-B14F-4D97-AF65-F5344CB8AC3E}">
        <p14:creationId xmlns:p14="http://schemas.microsoft.com/office/powerpoint/2010/main" val="53001128"/>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181c441-35b5-4053-a03c-958eb6a0009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A30B5E0C0B73B42975F25A0FEF1DCF7" ma:contentTypeVersion="6" ma:contentTypeDescription="Create a new document." ma:contentTypeScope="" ma:versionID="92184c47ad6a13482f1e067b8b1b383b">
  <xsd:schema xmlns:xsd="http://www.w3.org/2001/XMLSchema" xmlns:xs="http://www.w3.org/2001/XMLSchema" xmlns:p="http://schemas.microsoft.com/office/2006/metadata/properties" xmlns:ns3="0181c441-35b5-4053-a03c-958eb6a00092" targetNamespace="http://schemas.microsoft.com/office/2006/metadata/properties" ma:root="true" ma:fieldsID="9b1ea733e296965b5641e1fc09c08a81" ns3:_="">
    <xsd:import namespace="0181c441-35b5-4053-a03c-958eb6a0009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81c441-35b5-4053-a03c-958eb6a000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6282DC-5D67-4C19-9A05-C65D9BF7BC78}">
  <ds:schemaRefs>
    <ds:schemaRef ds:uri="http://schemas.microsoft.com/office/2006/metadata/properties"/>
    <ds:schemaRef ds:uri="http://purl.org/dc/terms/"/>
    <ds:schemaRef ds:uri="http://schemas.microsoft.com/office/2006/documentManagement/types"/>
    <ds:schemaRef ds:uri="http://schemas.microsoft.com/office/infopath/2007/PartnerControls"/>
    <ds:schemaRef ds:uri="0181c441-35b5-4053-a03c-958eb6a00092"/>
    <ds:schemaRef ds:uri="http://purl.org/dc/dcmitype/"/>
    <ds:schemaRef ds:uri="http://www.w3.org/XML/1998/namespace"/>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3.xml><?xml version="1.0" encoding="utf-8"?>
<ds:datastoreItem xmlns:ds="http://schemas.openxmlformats.org/officeDocument/2006/customXml" ds:itemID="{92C5C4AF-4150-429B-AA99-4FAE23D6CF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81c441-35b5-4053-a03c-958eb6a000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{8A663894-EB5A-4244-8626-DB4BE9A825DD}05f950ec-c865-457c-93ae-9eb2ef1c603f-TFa19fa653-f273-4169-96ef-448bb1cd1027_win32</Template>
  <TotalTime>83</TotalTime>
  <Words>420</Words>
  <Application>Microsoft Office PowerPoint</Application>
  <PresentationFormat>Widescreen</PresentationFormat>
  <Paragraphs>49</Paragraphs>
  <Slides>6</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2" baseType="lpstr">
      <vt:lpstr>Aptos</vt:lpstr>
      <vt:lpstr>Arial</vt:lpstr>
      <vt:lpstr>Calibri</vt:lpstr>
      <vt:lpstr>Neue Haas Grotesk Text Pro</vt:lpstr>
      <vt:lpstr>OasisVTI</vt:lpstr>
      <vt:lpstr>Package</vt:lpstr>
      <vt:lpstr>Group Contract</vt:lpstr>
      <vt:lpstr>Our Topics</vt:lpstr>
      <vt:lpstr>Outline &amp;  Work  Breakup</vt:lpstr>
      <vt:lpstr>Schedule Feb 12: Dividing up work, defining goals Offline – Work on our individual slides Feb 20: Meet (10am CST), Review slides and Recommend improvements Offline – Work on improvements, practice presentation Feb 27: Meet (10am CST), Practice Presentation</vt:lpstr>
      <vt:lpstr>Problem solving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Sanabria, Robert</dc:creator>
  <cp:lastModifiedBy>Sanabria, Robert</cp:lastModifiedBy>
  <cp:revision>2</cp:revision>
  <dcterms:created xsi:type="dcterms:W3CDTF">2026-02-12T20:33:50Z</dcterms:created>
  <dcterms:modified xsi:type="dcterms:W3CDTF">2026-02-12T21:57:19Z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0x0101000A30B5E0C0B73B42975F25A0FEF1DCF7</vt:lpwstr>
  </property>
  <property fmtid="{D5CDD505-2E9C-101B-9397-08002B2CF9AE}" pid="3" name="MediaServiceImageTags">
    <vt:lpwstr/>
  </property>
</Properties>
</file>