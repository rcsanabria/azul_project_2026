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TECHNICAL RESEARCH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Reducing Fuel Waste in Azul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64922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t>A data-grounded reconstruction of the analysis pipeline: problem -&gt; data -&gt; filters -&gt; sweet spots -&gt; route swapability -&gt; seasonal decision engine -&gt;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1945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288,107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cleaned flight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743200"/>
            <a:ext cx="21945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419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origin-destination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743200"/>
            <a:ext cx="21945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E2-for-E1 candidate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743200"/>
            <a:ext cx="24688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481k kg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equal-seat fuel reduction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9784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Observed sample window: 2024-01-01 to 2025-11-15. Fuel units are kg because the operational source field is TripFuelBurnTotal [KG].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recommendation is narrow: prioritize E2 allocation where E1 and E2 already overlap operationally and the equal-seat screen remains fuel-positive.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Operational Problem and Metric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Fuel waste is modeled as avoidable fuel burn under a feasible alternative aircraft assignment.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Primary observed metric: fuel consumption in kg per flight.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Normalized metric: fuel consumption in kg/NM and kg per passenger-NM proxy.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Recommendation metric: kg saved over observed flights or kg saved per route-month, depending on the model stage.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The analysis identifies candidate opportunities, not final dispatch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920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t>Estimated route-month saving (kg) =</a:t>
            </a:r>
            <a:br/>
            <a:r>
              <a:t>(current kg/NM - recommended kg/NM)</a:t>
            </a:r>
            <a:br/>
            <a:r>
              <a:t>x average distance (NM)</a:t>
            </a:r>
            <a:br/>
            <a:r>
              <a:t>x flights in that route-month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00400"/>
            <a:ext cx="489204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For the sweet-spot route screen, the denominator is observed worse-aircraft sweet-spot flights or equivalent observed seat supply. For the seasonal engine, the denominator is one route-month.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Every fuel number in this deck is scoped to a denominator; no chart represents total annual network fuel.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Data Sources and Available Variables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09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4206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Variables used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Operational flights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Azul_DataSample.xlsx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288,337 raw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fuel kg, TOW kg, time sec, distance NM, route,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Load evidence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Azul_Project_Data_2.xlsx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route/flight/equipment averages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passengers per flight proxy, payload kg, cargo kg, baggage kg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Previous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Main Fleet Analysis.ipynb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sweet-spot + seat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seat assumptions and route overlap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Decision engine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azul_seasonal_fleet_assignment_v2.py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route-month outputs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frequency, passenger proxy, payload, TOW, E2 advantage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88920" y="3749039"/>
          <a:ext cx="6492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2194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Load join level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Share of cleaned flight records (%)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route_flight_equipment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90.46%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route_equipment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8.80%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0.29%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load sheet is usable: 90.46% of cleaned records join at route + flight + equipment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Cleaning and Filtering Decisions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051560"/>
          <a:ext cx="5669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3059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Filter or count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initial_rows_after_required_fields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288,337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missing_fuel_removed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nonpositive_fuel_removed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missing_distance_removed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nonpositive_distance_removed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missing_time_removed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trip_time_below_600_sec_removed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missing_tow_removed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implausible_tow_removed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implausible_fuel_per_nm_removed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implausible_ground_speed_removed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6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final_rows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288,107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23444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230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records removed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23444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0.08%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sample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514600"/>
            <a:ext cx="411480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Dropped nonpositive fuel and implausibly short trips.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Removed fuel-per-NM and ground-speed outliers.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Kept broad thresholds to avoid over-cleaning valid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final analysis sample preserves 99.92% of rows while removing records that break efficiency denominators.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Exploratory Fleet Profile</a:t>
            </a:r>
          </a:p>
        </p:txBody>
      </p:sp>
      <p:pic>
        <p:nvPicPr>
          <p:cNvPr id="5" name="Picture 4" descr="fleet_mix_and_stage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766560" cy="4160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60920" y="1234440"/>
          <a:ext cx="41605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04"/>
                <a:gridCol w="832104"/>
                <a:gridCol w="832104"/>
                <a:gridCol w="832104"/>
                <a:gridCol w="832104"/>
              </a:tblGrid>
              <a:tr h="358140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Aircraft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Flights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Median distance (NM)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Median TOW (kg)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Median fuel (kg/NM)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78,452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231.0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21,225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44,805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295.6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44,429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6.67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50,191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382.4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52,745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4.98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A320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100,865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889.2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66,644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5.38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13,794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1,170.4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80,116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6.01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3657600"/>
            <a:ext cx="3977639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Fleet families occupy different mission tiers. That is why raw fuel comparisons are not enough: distance, TOW, and aircraft type are entangled.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next step is controlled comparison inside similar operating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Why Distance, Time, TOW, and Type Matter</a:t>
            </a:r>
          </a:p>
        </p:txBody>
      </p:sp>
      <p:pic>
        <p:nvPicPr>
          <p:cNvPr id="5" name="Picture 4" descr="fuel_vs_distance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669280" cy="4206240"/>
          </a:xfrm>
          <a:prstGeom prst="rect">
            <a:avLst/>
          </a:prstGeom>
        </p:spPr>
      </p:pic>
      <p:pic>
        <p:nvPicPr>
          <p:cNvPr id="6" name="Picture 5" descr="fuel_driver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25780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Fuel burn is strongly mission-driven; comparisons must condition on operating envelope before attributing differences to aircraft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Aircraft Grouping Logic: TOW Operating Regimes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051560"/>
          <a:ext cx="51206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581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Aircraft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Flights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Low TOW (kg)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Median TOW (kg)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High TOW (kg)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78,452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18,948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22,305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44,805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40,868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44,429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46,299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50,191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49,129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52,745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55,191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A320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100,865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61,142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66,644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70,963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13,794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72,751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80,116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84,299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ircraft_tow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51560"/>
            <a:ext cx="53492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703320"/>
            <a:ext cx="47548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Regime = central TOW band inferred from observed operations.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Route-months are classified against these bands.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TOW is a proxy for aircraft size, payload, and mission assignment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fleet separates into clear TOW tiers, supporting aircraft-family-specific comparisons.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Definition of Operational Sweet Spot</a:t>
            </a:r>
          </a:p>
        </p:txBody>
      </p:sp>
      <p:pic>
        <p:nvPicPr>
          <p:cNvPr id="5" name="Picture 4" descr="sweet_spot_distance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49224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25880"/>
            <a:ext cx="3749039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For each aircraft, rank flights by fuel consumption per NM.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Keep the best-performing 50% inside that aircraft family.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Calculate IQR windows for distance, trip time, and TOW.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A joint sweet-spot flight must fall inside all three windows.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This defines comparable observations using observed behavior, not design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sweet spot is a sample-based operating envelope where aircraft comparisons are less confounded by mission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Joint Sweet Spot Sample</a:t>
            </a:r>
          </a:p>
        </p:txBody>
      </p:sp>
      <p:pic>
        <p:nvPicPr>
          <p:cNvPr id="5" name="Picture 4" descr="joint_sweet_spo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537960" cy="4160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32588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3352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Aircraft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Joint flights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Share of aircraft flights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Median fuel (kg/NM)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A320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15,701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5.08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A321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1,958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5.81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14,574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2.87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7,632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6.33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9,039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F2937"/>
                          </a:solidFill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3703320"/>
            <a:ext cx="38862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F2937"/>
                </a:solidFill>
              </a:defRPr>
            </a:pPr>
            <a:r>
              <a:t>This filter intentionally reduces the sample to observations with comparable distance, time, and TOW conditions within each aircraft family.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route-level screen starts only after this comparability filter is applied.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Overlapping Sweet Spots Identify Fuel-Only Swap Candidates</a:t>
            </a:r>
          </a:p>
        </p:txBody>
      </p:sp>
      <p:pic>
        <p:nvPicPr>
          <p:cNvPr id="5" name="Picture 4" descr="fuel_only_sw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583680" cy="4251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417320"/>
          <a:ext cx="42062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35433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Fuel-only substitution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Worse-aircraft sweet flights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Median kg/NM saving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A320 replacing 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1957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ATR replacing E1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459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E2 replacing 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3246120"/>
            <a:ext cx="3977639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Fuel-only comparison is a necessary but insufficient screen. It ignores seat supply, slot pressure, aircraft availability, and rotations.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Three directions appear fuel-positive before capacity is considered: A320 for A321, ATR for E1, and E2 for E1.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Seat-Based Swapability Screen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2926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2667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Aircraft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Assumed seats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A320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69080" y="1143000"/>
            <a:ext cx="694944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172033"/>
                </a:solidFill>
              </a:defRPr>
            </a:pPr>
            <a:r>
              <a:t>Seat capacity is not a field in the operational dataset. The analysis uses the seat assumptions from Main Fleet Analysis.ipynb as a conservative proxy for maintaining route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743200"/>
            <a:ext cx="694944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Equal-seat fuel scenario = observed worse-aircraft seat supply / better aircraft seats x better median fuel per flight. This is not a demand model and does not prove frequencies can be reduced.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Seat-based swapability is a feasibility proxy; it screens out fuel-only ideas that fail once capacity is held constant.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Capacity Screen Changes the Result</a:t>
            </a:r>
          </a:p>
        </p:txBody>
      </p:sp>
      <p:pic>
        <p:nvPicPr>
          <p:cNvPr id="5" name="Picture 4" descr="capacity_scree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583680" cy="4251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417320"/>
          <a:ext cx="42062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35433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Substitution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Median extra flights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Median equal-seat saving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E2 replacing 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ATR replacing E1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68.6%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A320 replacing 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F2937"/>
                          </a:solidFill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3200400"/>
            <a:ext cx="3977639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F2937"/>
                </a:solidFill>
              </a:defRPr>
            </a:pPr>
            <a:r>
              <a:t>ATR-for-E1 remains fuel-positive in the equal-seat math, but needs 68.6% more flights. A320-for-A321 turns negative. E2-for-E1 requires no extra flights because assumed E2 seats exceed E1 seats.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E2 replacing E1 is the only substitution that survives both the fuel and seat-supply screens without extra frequency.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Route-Level E2-for-E1 Opportunities</a:t>
            </a:r>
          </a:p>
        </p:txBody>
      </p:sp>
      <p:pic>
        <p:nvPicPr>
          <p:cNvPr id="5" name="Picture 4" descr="e2_replacing_e1_candidate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5379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143000"/>
            <a:ext cx="173736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candidate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143000"/>
            <a:ext cx="182880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641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observed E1 sweet flights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240280"/>
            <a:ext cx="173736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26.8%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median equal-seat saving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240280"/>
            <a:ext cx="182880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751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kg per observed E1 sweet flight equivalent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474720"/>
            <a:ext cx="3749039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Total modeled saving: 481,443 kg over equivalent observed seat supply. This is not annualized and does not represent total network fuel.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candidate set is concentrated, measurable, and small enough for engineering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Seasonal Decision Engine Extends the Route Screen</a:t>
            </a:r>
          </a:p>
        </p:txBody>
      </p:sp>
      <p:pic>
        <p:nvPicPr>
          <p:cNvPr id="5" name="Picture 4" descr="v2_recommendat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49224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388620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Route-months compare each month against that route's own median.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High frequency threshold: &gt;=25% above route median; very high: &gt;=50%.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Demand proxy threshold: passengers or payload &gt;=8% above route median.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TOW threshold: &gt;=5% shift; fuel intensity threshold: &gt;=4% shift.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</a:defRPr>
            </a:pPr>
            <a:r>
              <a:t>E1 -&gt; E2 flag requires E1 primary plus &gt;=3% observed E2 kg/NM advantage on the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seasonal engine identifies timing candidates; the sweet-spot screen identifies structural route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Route-Month Reassignment Candidates</a:t>
            </a:r>
          </a:p>
        </p:txBody>
      </p:sp>
      <p:pic>
        <p:nvPicPr>
          <p:cNvPr id="5" name="Picture 4" descr="v2_e1_e2_route_month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5379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234440"/>
            <a:ext cx="182880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12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E1 -&gt; E2 route-months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234440"/>
            <a:ext cx="182880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98k kg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sum of kg per route-month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379476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This v2 metric is calculated at route-month level: kg saved = kg/NM difference x average distance x flights. It is separate from the equal-seat sweet-spot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Seasonal candidates are scheduling review targets, not automatic assignments.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Operational Interpretation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43000"/>
          <a:ext cx="10789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29768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 layer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Technical meaning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What the evidence supports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Prioritize E2 allocation for E1 route groups where overlap, capacity, and fuel evidence align.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What it does not prove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It does not solve rotations, crew availability, maintenance checks, slots, gates, or day-of-operations disruption.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Why E2-for-E1 is operationally plausible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The E2 carries more assumed seats than E1 and shows lower observed kg/NM in the candidate overlap routes.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Why other swaps are not recommended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ATR-for-E1 needs too many extra flights; A320-for-A321 fails the equal-seat fuel screen.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749039"/>
            <a:ext cx="978408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Treat results as a ranked engineering worklist.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Validate candidate routes inside actual tail rotations before implementation.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</a:defRPr>
            </a:pPr>
            <a:r>
              <a:t>Use passenger demand and load factor data to replace the seat-capacity proxy.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analysis narrows a broad fleet problem into a reviewable set of route and route-month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Recommendations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78992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use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Evidence basis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Pilot E2 allocation on seven E1-overlap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Start with CGR-VCP, BSB-VCP, VCP-BSB, GYN-VCP, VCP-IGU, VCP-CGR, IOS-CNF.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Fuel-positive under equal-seat screen.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Run route-month checks before each schedule season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Use v2 route-month flags as pre-schedule review input.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Captures timing and demand proxy variation.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Reject fuel-only swaps without capacity and operations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Do not advance A320-for-A321 or ATR-for-E1 from fuel-only output alone.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Capacity and frequency can erase apparent savings.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Track realized fuel against control routes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Compare kg per flight and kg/NM before/after on candidate corridors.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t>Turns proxy analysis into operating evidence.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34840"/>
            <a:ext cx="105156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</a:defRPr>
            </a:pPr>
            <a:r>
              <a:t>Primary recommendation: prioritize incoming E2 frames where the next aircraft entering service has the largest observed fuel benefit under comparable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Recommendation follows directly from the dual filter: observed overlap plus equal-seat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Engineering and Operational Constraints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09728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Rotation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A segment swap can affect the full tail routing, turn times, maintenance windows, and hub connections.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Crew constraints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E1/E2 commonality helps, but differences training, currency, and captain availability still matter.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Airport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Gate compatibility, ramp handling, slot use, payload limits, and runway conditions need station checks.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Economics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Fuel savings are gross fuel savings; lease, maintenance reserve, crew cost, and ownership cost are not modeled.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t>Seat capacity is a proxy. Real demand, load factor, and revenue management data are needed before schedule changes.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model produces candidate opportunities; Azul operations data must decide implementation feasibility.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33272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Fuel burn is observed, but avoidable fuel waste is estimated through counterfactual assignment logic.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Passenger and payload variables are joined averages, not a full flight-level demand or revenue model.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Seat assumptions are fixed by aircraft family and may differ from Azul subfleet configurations.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Sweet spots are sample-defined; thin-overlap routes are excluded rather than inferred.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Airport, crew, maintenance, network rotations, disruptions, and day-of-operation constraints are not modeled.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Financial impact is not net operating margin; cost categories beyond fuel are outside the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main conclusion is robust as a fuel-prioritization rule, not as an automated fleet-assignment optimizer.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Next Analytical Steps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724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Required data or model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Replace seat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Use actual seats by tail/subfleet, booked demand, load factor, no-show and spill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Rotation feasibility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Build tail-rotation constraints across all legs touched by candidate routes.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Airport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Gate, runway, slot, turnaround, ground equipment, and payload restriction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Net economics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Add lease, maintenance reserve, crew, ownership, delay, and schedule utility impacts.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Pilot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Run controlled before/after comparison using kg per flight and kg/NM by route-month.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480560"/>
            <a:ext cx="101498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</a:defRPr>
            </a:pPr>
            <a:r>
              <a:t>Analytical end state: a constrained fleet-assignment optimizer seeded by the E2-for-E1 opportunities found here, then validated against real operating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next model should move from candidate identification to constrained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4F6F91"/>
                </a:solidFill>
              </a:defRPr>
            </a:pPr>
            <a: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033"/>
                </a:solidFill>
              </a:defRPr>
            </a:pPr>
            <a:r>
              <a:t>Quality Check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34440"/>
          <a:ext cx="101498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Deck status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Linear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Problem -&gt; data -&gt; filters -&gt; sweet spot -&gt; overlap -&gt; capacity -&gt; route-month -&gt;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Fuel in kg, distance in NM/km where stated, TOW in kg, route-months counted explicitly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Denominators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Per flight, per NM, per route-month, or observed equivalent seat supply stated on visuals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Conclusions trace to generated CSVs, notebooks, and patched Python engines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Caution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Proxy assumptions and missing operational constraints called out before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t>Final engineering interpretation: candidate opportunities are real enough to validate, but not final reassignment decisions without Azul's operational constraint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79592"/>
            <a:ext cx="11064240" cy="502920"/>
          </a:xfrm>
          <a:prstGeom prst="roundRect">
            <a:avLst/>
          </a:prstGeom>
          <a:solidFill>
            <a:srgbClr val="EAF3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033"/>
                </a:solidFill>
              </a:defRPr>
            </a:pPr>
            <a:r>
              <a:t>Conclusion: The recommendations follow from the evidence chain and stay within the limits of the available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F6F91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