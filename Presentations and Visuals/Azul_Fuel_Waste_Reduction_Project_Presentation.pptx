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allelogram 2"/>
          <p:cNvSpPr/>
          <p:nvPr/>
        </p:nvSpPr>
        <p:spPr>
          <a:xfrm>
            <a:off x="8842287" y="2543608"/>
            <a:ext cx="2194560" cy="975360"/>
          </a:xfrm>
          <a:prstGeom prst="parallelogram">
            <a:avLst/>
          </a:prstGeom>
          <a:solidFill>
            <a:srgbClr val="2357A1"/>
          </a:solidFill>
          <a:ln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Parallelogram 3"/>
          <p:cNvSpPr/>
          <p:nvPr/>
        </p:nvSpPr>
        <p:spPr>
          <a:xfrm>
            <a:off x="9208047" y="3275128"/>
            <a:ext cx="1828800" cy="853440"/>
          </a:xfrm>
          <a:prstGeom prst="parallelogram">
            <a:avLst/>
          </a:prstGeom>
          <a:solidFill>
            <a:srgbClr val="3CA3B2"/>
          </a:solidFill>
          <a:ln>
            <a:solidFill>
              <a:srgbClr val="3CA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Parallelogram 4"/>
          <p:cNvSpPr/>
          <p:nvPr/>
        </p:nvSpPr>
        <p:spPr>
          <a:xfrm>
            <a:off x="8781327" y="4250487"/>
            <a:ext cx="2011680" cy="914400"/>
          </a:xfrm>
          <a:prstGeom prst="parallelogram">
            <a:avLst/>
          </a:prstGeom>
          <a:solidFill>
            <a:srgbClr val="0C225C"/>
          </a:solidFill>
          <a:ln>
            <a:solidFill>
              <a:srgbClr val="0C2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Parallelogram 5"/>
          <p:cNvSpPr/>
          <p:nvPr/>
        </p:nvSpPr>
        <p:spPr>
          <a:xfrm>
            <a:off x="9390927" y="5103928"/>
            <a:ext cx="1463040" cy="731520"/>
          </a:xfrm>
          <a:prstGeom prst="parallelogram">
            <a:avLst/>
          </a:prstGeom>
          <a:solidFill>
            <a:srgbClr val="2357A1"/>
          </a:solidFill>
          <a:ln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670561" y="548640"/>
            <a:ext cx="5240537" cy="7489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25C"/>
                </a:solidFill>
                <a:latin typeface="Arial"/>
              </a:defRPr>
            </a:pPr>
            <a:r>
              <a:rPr sz="4267"/>
              <a:t>Azul Checkpoint #2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277" y="1568249"/>
            <a:ext cx="10850880" cy="60959"/>
          </a:xfrm>
          <a:prstGeom prst="rect">
            <a:avLst/>
          </a:prstGeom>
          <a:solidFill>
            <a:srgbClr val="2357A1"/>
          </a:solidFill>
          <a:ln>
            <a:solidFill>
              <a:srgbClr val="235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5" name="Picture 2" descr="Azul Brazilian Airlines Logo, symbol, meaning, history, PNG, brand">
            <a:extLst>
              <a:ext uri="{FF2B5EF4-FFF2-40B4-BE49-F238E27FC236}">
                <a16:creationId xmlns:a16="http://schemas.microsoft.com/office/drawing/2014/main" id="{333D1EE2-DA73-1E54-B776-AF305BC04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8047" y="318829"/>
            <a:ext cx="2215485" cy="124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6C65508-6FFE-088A-8747-E410E771070D}"/>
              </a:ext>
            </a:extLst>
          </p:cNvPr>
          <p:cNvSpPr txBox="1"/>
          <p:nvPr/>
        </p:nvSpPr>
        <p:spPr>
          <a:xfrm>
            <a:off x="1398993" y="3483281"/>
            <a:ext cx="2650790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867" dirty="0"/>
              <a:t>Group 5</a:t>
            </a:r>
            <a:endParaRPr lang="pt-BR" sz="58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0972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0233F"/>
                </a:solidFill>
              </a:defRPr>
            </a:pPr>
            <a:r>
              <a:t>Fuel Waste Reduction Through Fleet Reassignment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73152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10233F"/>
                </a:solidFill>
              </a:defRPr>
            </a:pPr>
            <a:r>
              <a:t>An evidence-based project presentation for prioritizing operationally feasible E2 allocation opportunities inside Azul's observed network.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1286" y="2834640"/>
            <a:ext cx="210312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288,107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cleaned flight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63006" y="2834640"/>
            <a:ext cx="210312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419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origin-destination routes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94726" y="2834640"/>
            <a:ext cx="210312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7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E2-for-E1 route priorities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6445" y="2834640"/>
            <a:ext cx="237744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481k kg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modeled fuel saving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549" y="4458437"/>
            <a:ext cx="10398596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rPr sz="1400"/>
              <a:t>Observed sample period: 2024-01-01 to 2025-11-15. Fuel burn is measured in kg because the source field is TripFuelBurnTotal [KG].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897880"/>
            <a:ext cx="11155680" cy="475488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233F"/>
                </a:solidFill>
              </a:defRPr>
            </a:pPr>
            <a:r>
              <a:t>Primary decision: prioritize E2 frames on route groups where E1 and E2 already overlap operationally and the equal-seat screen remains fuel-positive.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1097280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defRPr sz="700" b="0">
                <a:solidFill>
                  <a:srgbClr val="5F7287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750" b="1">
                <a:solidFill>
                  <a:srgbClr val="5F7287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972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0233F"/>
                </a:solidFill>
              </a:defRPr>
            </a:pPr>
            <a:r>
              <a:t>Executive Summary: E2-for-E1 is the Clearest Actionable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12116" y="1234440"/>
            <a:ext cx="214884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7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candidate routes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43836" y="1234440"/>
            <a:ext cx="214884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641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observed E1 sweet-spot flights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75556" y="1234440"/>
            <a:ext cx="214884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26.8%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median equal-seat fuel saving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07276" y="1234440"/>
            <a:ext cx="22402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481,443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kg over equivalent observed seat supply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9966960" cy="24688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rPr sz="2000" dirty="0"/>
              <a:t>Fuel-only screening finds three possible substitution directions, but two weaken after capacity is held constant.</a:t>
            </a:r>
            <a:endParaRPr lang="en-GB" sz="2000" dirty="0"/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endParaRPr sz="2000" dirty="0"/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rPr sz="2000" dirty="0"/>
              <a:t>E2 replacing E1 is the only direction that is fuel-positive without requiring additional frequency under the seat-capacity proxy.</a:t>
            </a:r>
            <a:endParaRPr lang="en-GB" sz="2000" dirty="0"/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endParaRPr sz="2000" dirty="0"/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rPr sz="2000" dirty="0"/>
              <a:t>The result is a prioritization rule for E2 allocation, not an automatic fleet-assignment decision.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rPr sz="2000" dirty="0"/>
              <a:t>Implementation should proceed through route and rotation validation before schedule changes.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897880"/>
            <a:ext cx="11155680" cy="475488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233F"/>
                </a:solidFill>
              </a:defRPr>
            </a:pPr>
            <a:r>
              <a:t>Recommendation: use the seven candidate routes as the first validation queue for incoming E2 allocation.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1097280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defRPr sz="700" b="0">
                <a:solidFill>
                  <a:srgbClr val="5F7287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F1F0544-53EE-8A43-EAB5-6329D3713A2F}"/>
              </a:ext>
            </a:extLst>
          </p:cNvPr>
          <p:cNvSpPr/>
          <p:nvPr/>
        </p:nvSpPr>
        <p:spPr>
          <a:xfrm>
            <a:off x="6393178" y="3540400"/>
            <a:ext cx="4754881" cy="47548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750" b="1">
                <a:solidFill>
                  <a:srgbClr val="5F7287"/>
                </a:solidFill>
              </a:defRPr>
            </a:pPr>
            <a:r>
              <a:t>PROJECT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972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0233F"/>
                </a:solidFill>
              </a:defRPr>
            </a:pPr>
            <a:r>
              <a:t>The Operational Problem is Avoidable Fuel Burn, Not Abstract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84960"/>
            <a:ext cx="4937760" cy="44714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F2937"/>
                </a:solidFill>
              </a:defRPr>
            </a:pPr>
            <a:r>
              <a:rPr sz="1700" dirty="0"/>
              <a:t>Azul operates a mixed fleet across regional, medium-haul, and longer narrowbody missions.</a:t>
            </a:r>
            <a:endParaRPr lang="en-GB" sz="1700" dirty="0"/>
          </a:p>
          <a:p>
            <a:pPr>
              <a:spcAft>
                <a:spcPts val="400"/>
              </a:spcAft>
              <a:defRPr sz="1250">
                <a:solidFill>
                  <a:srgbClr val="1F2937"/>
                </a:solidFill>
              </a:defRPr>
            </a:pPr>
            <a:endParaRPr sz="1700" dirty="0"/>
          </a:p>
          <a:p>
            <a:pPr>
              <a:spcAft>
                <a:spcPts val="400"/>
              </a:spcAft>
              <a:defRPr sz="1250">
                <a:solidFill>
                  <a:srgbClr val="1F2937"/>
                </a:solidFill>
              </a:defRPr>
            </a:pPr>
            <a:r>
              <a:rPr sz="1700" dirty="0"/>
              <a:t>Raw fuel consumption is driven by route length, payload, take-off weight, aircraft type, and frequency.</a:t>
            </a:r>
            <a:endParaRPr lang="en-GB" sz="1700" dirty="0"/>
          </a:p>
          <a:p>
            <a:pPr>
              <a:spcAft>
                <a:spcPts val="400"/>
              </a:spcAft>
              <a:defRPr sz="1250">
                <a:solidFill>
                  <a:srgbClr val="1F2937"/>
                </a:solidFill>
              </a:defRPr>
            </a:pPr>
            <a:endParaRPr sz="1700" dirty="0"/>
          </a:p>
          <a:p>
            <a:pPr>
              <a:spcAft>
                <a:spcPts val="400"/>
              </a:spcAft>
              <a:defRPr sz="1250">
                <a:solidFill>
                  <a:srgbClr val="1F2937"/>
                </a:solidFill>
              </a:defRPr>
            </a:pPr>
            <a:r>
              <a:rPr sz="1700" dirty="0"/>
              <a:t>The project objective is to identify reassignment candidates that reduce fuel burn while preserving operational feasibility.</a:t>
            </a:r>
            <a:endParaRPr lang="en-GB" sz="1700" dirty="0"/>
          </a:p>
          <a:p>
            <a:pPr>
              <a:spcAft>
                <a:spcPts val="400"/>
              </a:spcAft>
              <a:defRPr sz="1250">
                <a:solidFill>
                  <a:srgbClr val="1F2937"/>
                </a:solidFill>
              </a:defRPr>
            </a:pPr>
            <a:endParaRPr sz="1700" dirty="0"/>
          </a:p>
          <a:p>
            <a:pPr>
              <a:spcAft>
                <a:spcPts val="400"/>
              </a:spcAft>
              <a:defRPr sz="1250">
                <a:solidFill>
                  <a:srgbClr val="1F2937"/>
                </a:solidFill>
              </a:defRPr>
            </a:pPr>
            <a:r>
              <a:rPr sz="1700" dirty="0"/>
              <a:t>The analysis treats fuel waste as avoidable kg of fuel under a feasible alternative aircraft assignment.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1559052"/>
            <a:ext cx="47548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005EB8"/>
                </a:solidFill>
              </a:defRPr>
            </a:pPr>
            <a:r>
              <a:rPr dirty="0"/>
              <a:t>Decision 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57400"/>
            <a:ext cx="553212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rPr sz="2000" dirty="0"/>
              <a:t>Fuel saved (kg) is always scoped to a denominator: per observed flight, per route-month, or over equivalent observed seat supply.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0340" y="3520441"/>
            <a:ext cx="457200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rPr dirty="0"/>
              <a:t>The result identifies candidate opportunities. It does not replace Azul's crew, maintenance, airport, and rotation planning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897880"/>
            <a:ext cx="11155680" cy="475488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233F"/>
                </a:solidFill>
              </a:defRPr>
            </a:pPr>
            <a:r>
              <a:t>The project narrows a broad fuel-efficiency question into specific route and route-month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1097280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defRPr sz="700" b="0">
                <a:solidFill>
                  <a:srgbClr val="5F7287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750" b="1">
                <a:solidFill>
                  <a:srgbClr val="5F7287"/>
                </a:solidFill>
              </a:defRPr>
            </a:pPr>
            <a:r>
              <a:t>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972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0233F"/>
                </a:solidFill>
              </a:defRPr>
            </a:pPr>
            <a:r>
              <a:t>The Evidence Base Combines Flight Operations With Load Proxies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418382"/>
              </p:ext>
            </p:extLst>
          </p:nvPr>
        </p:nvGraphicFramePr>
        <p:xfrm>
          <a:off x="502920" y="1472331"/>
          <a:ext cx="111556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Source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File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Scope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Use in analysis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Operational flights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Azul_DataSample.xlsx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288,337 raw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fuel kg, TOW kg, time sec, distance NM, route, aircraft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Load evidence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Azul_Project_Data_2.xlsx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route / flight / equipment averages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passengers per flight proxy, payload kg, cargo, baggage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Analysis sample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v2 cleaned 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288,107 rows; 230 removed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filters remove invalid denominators and implausible speeds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455174" y="3968791"/>
            <a:ext cx="210312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113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airports in sample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86894" y="3968791"/>
            <a:ext cx="210312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419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18614" y="3968791"/>
            <a:ext cx="210312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90.46%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exact load join share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0334" y="3968791"/>
            <a:ext cx="210312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99.92%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records retained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897880"/>
            <a:ext cx="11155680" cy="475488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233F"/>
                </a:solidFill>
              </a:defRPr>
            </a:pPr>
            <a:r>
              <a:t>Data preparation is intentionally light-touch: only records with invalid or implausible efficiency denominators are removed.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1097280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defRPr sz="700" b="0">
                <a:solidFill>
                  <a:srgbClr val="5F7287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750" b="1">
                <a:solidFill>
                  <a:srgbClr val="5F7287"/>
                </a:solidFill>
              </a:defRPr>
            </a:pPr>
            <a:r>
              <a:t>ANALYTICAL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972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0233F"/>
                </a:solidFill>
              </a:defRPr>
            </a:pPr>
            <a:r>
              <a:t>The Analysis Uses a Decision Funnel to Avoid False Comparisons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246120" cy="1097280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TextBox 5"/>
          <p:cNvSpPr txBox="1"/>
          <p:nvPr/>
        </p:nvSpPr>
        <p:spPr>
          <a:xfrm>
            <a:off x="941832" y="1929384"/>
            <a:ext cx="288036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1">
                <a:solidFill>
                  <a:srgbClr val="005EB8"/>
                </a:solidFill>
              </a:defRPr>
            </a:pPr>
            <a:r>
              <a:rPr sz="1400"/>
              <a:t>1. Fleet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40280"/>
            <a:ext cx="28803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50" b="0">
                <a:solidFill>
                  <a:srgbClr val="1F2937"/>
                </a:solidFill>
              </a:defRPr>
            </a:pPr>
            <a:r>
              <a:rPr sz="1400"/>
              <a:t>Understand mission bands and aircraft roles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783080"/>
            <a:ext cx="3246120" cy="1097280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/>
          <p:cNvSpPr txBox="1"/>
          <p:nvPr/>
        </p:nvSpPr>
        <p:spPr>
          <a:xfrm>
            <a:off x="4645151" y="1929384"/>
            <a:ext cx="288036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1">
                <a:solidFill>
                  <a:srgbClr val="005EB8"/>
                </a:solidFill>
              </a:defRPr>
            </a:pPr>
            <a:r>
              <a:rPr sz="1400"/>
              <a:t>2. Operating envelopes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1" y="2240280"/>
            <a:ext cx="28803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50" b="0">
                <a:solidFill>
                  <a:srgbClr val="1F2937"/>
                </a:solidFill>
              </a:defRPr>
            </a:pPr>
            <a:r>
              <a:rPr sz="1400"/>
              <a:t>Define TOW and sweet-spot conditions by aircraft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783080"/>
            <a:ext cx="3246120" cy="1097280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8348471" y="1929384"/>
            <a:ext cx="288036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1">
                <a:solidFill>
                  <a:srgbClr val="005EB8"/>
                </a:solidFill>
              </a:defRPr>
            </a:pPr>
            <a:r>
              <a:rPr sz="1400"/>
              <a:t>3. Overlap screen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240280"/>
            <a:ext cx="28803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50" b="0">
                <a:solidFill>
                  <a:srgbClr val="1F2937"/>
                </a:solidFill>
              </a:defRPr>
            </a:pPr>
            <a:r>
              <a:rPr sz="1400"/>
              <a:t>Compare only routes where multiple aircraft appear in sweet spots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57600"/>
            <a:ext cx="3246120" cy="1097280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TextBox 14"/>
          <p:cNvSpPr txBox="1"/>
          <p:nvPr/>
        </p:nvSpPr>
        <p:spPr>
          <a:xfrm>
            <a:off x="941832" y="3803904"/>
            <a:ext cx="288036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1">
                <a:solidFill>
                  <a:srgbClr val="005EB8"/>
                </a:solidFill>
              </a:defRPr>
            </a:pPr>
            <a:r>
              <a:rPr sz="1400"/>
              <a:t>4. Capacity 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114800"/>
            <a:ext cx="28803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50" b="0">
                <a:solidFill>
                  <a:srgbClr val="1F2937"/>
                </a:solidFill>
              </a:defRPr>
            </a:pPr>
            <a:r>
              <a:rPr sz="1400"/>
              <a:t>Hold approximate seat supply constant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3657600"/>
            <a:ext cx="3246120" cy="1097280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8" name="TextBox 17"/>
          <p:cNvSpPr txBox="1"/>
          <p:nvPr/>
        </p:nvSpPr>
        <p:spPr>
          <a:xfrm>
            <a:off x="4645151" y="3803904"/>
            <a:ext cx="288036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1">
                <a:solidFill>
                  <a:srgbClr val="005EB8"/>
                </a:solidFill>
              </a:defRPr>
            </a:pPr>
            <a:r>
              <a:rPr sz="1400"/>
              <a:t>5. Seasonal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1" y="4114800"/>
            <a:ext cx="28803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50" b="0">
                <a:solidFill>
                  <a:srgbClr val="1F2937"/>
                </a:solidFill>
              </a:defRPr>
            </a:pPr>
            <a:r>
              <a:rPr sz="1400"/>
              <a:t>Translate structural route evidence into route-month review targets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3657600"/>
            <a:ext cx="324612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8348471" y="3803904"/>
            <a:ext cx="288036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1">
                <a:solidFill>
                  <a:srgbClr val="005EB8"/>
                </a:solidFill>
              </a:defRPr>
            </a:pPr>
            <a:r>
              <a:rPr sz="1400"/>
              <a:t>6. Operational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4114800"/>
            <a:ext cx="288036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50" b="0">
                <a:solidFill>
                  <a:srgbClr val="1F2937"/>
                </a:solidFill>
              </a:defRPr>
            </a:pPr>
            <a:r>
              <a:rPr sz="1400"/>
              <a:t>Check rotations, crew, airport, maintenance, and economics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97880"/>
            <a:ext cx="11155680" cy="475488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233F"/>
                </a:solidFill>
              </a:defRPr>
            </a:pPr>
            <a:r>
              <a:t>The funnel is designed to move from broad operational data to a short list of implementable candidates.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9672"/>
            <a:ext cx="1097280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defRPr sz="700" b="0">
                <a:solidFill>
                  <a:srgbClr val="5F7287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750" b="1">
                <a:solidFill>
                  <a:srgbClr val="5F7287"/>
                </a:solidFill>
              </a:defRPr>
            </a:pPr>
            <a:r>
              <a:t>FLEET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972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0233F"/>
                </a:solidFill>
              </a:defRPr>
            </a:pPr>
            <a:r>
              <a:t>Fleet Families Operate in Different Mission Bands</a:t>
            </a:r>
          </a:p>
        </p:txBody>
      </p:sp>
      <p:pic>
        <p:nvPicPr>
          <p:cNvPr id="5" name="Picture 4" descr="fleet_mission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6629400" cy="42519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163904"/>
              </p:ext>
            </p:extLst>
          </p:nvPr>
        </p:nvGraphicFramePr>
        <p:xfrm>
          <a:off x="7315200" y="1234440"/>
          <a:ext cx="4251960" cy="2522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Aircraft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Flights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Median distance (NM)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Median TOW (kg)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Median fuel (kg/NM)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ATR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78,452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231.0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21,225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2.96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E1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44,805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295.6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44,429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6.67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50,191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382.4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52,745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4.98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A320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100,865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889.2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66,644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5.38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A321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13,794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1,170.4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80,116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6.01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4049268"/>
            <a:ext cx="3977639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1F2937"/>
                </a:solidFill>
              </a:defRPr>
            </a:pPr>
            <a:r>
              <a:t>Direct cross-fleet fuel comparisons would overstate differences caused by mission length and aircraft role.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897880"/>
            <a:ext cx="11155680" cy="475488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233F"/>
                </a:solidFill>
              </a:defRPr>
            </a:pPr>
            <a:r>
              <a:t>Operational comparability is required before ranking aircraft by fuel burn.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1097280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defRPr sz="700" b="0">
                <a:solidFill>
                  <a:srgbClr val="5F7287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750" b="1">
                <a:solidFill>
                  <a:srgbClr val="5F7287"/>
                </a:solidFill>
              </a:defRPr>
            </a:pPr>
            <a:r>
              <a:t>OPERATING ENVELOPES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972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0233F"/>
                </a:solidFill>
              </a:defRPr>
            </a:pPr>
            <a:r>
              <a:t>Operating Envelopes Define the Comparable Space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778469"/>
              </p:ext>
            </p:extLst>
          </p:nvPr>
        </p:nvGraphicFramePr>
        <p:xfrm>
          <a:off x="685800" y="1772657"/>
          <a:ext cx="5074920" cy="2232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Aircraft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Flights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Low TOW (kg)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Median TOW (kg)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High TOW (kg)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ATR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78,452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18,948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21,225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22,305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E1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44,805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40,868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44,429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46,299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50,191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49,129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52,745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55,191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A320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100,865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61,142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66,644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70,963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A321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13,794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72,751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80,116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84,299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aircraft_tow_reg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772657"/>
            <a:ext cx="534924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4378697"/>
            <a:ext cx="466344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1F2937"/>
                </a:solidFill>
              </a:defRPr>
            </a:pPr>
            <a:r>
              <a:rPr dirty="0"/>
              <a:t>TOW regimes are inferred from central observed operations and help classify whether a route-month behaves like a lighter or heavier aircraft assignment.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897880"/>
            <a:ext cx="11155680" cy="475488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233F"/>
                </a:solidFill>
              </a:defRPr>
            </a:pPr>
            <a:r>
              <a:t>TOW is used as an operational proxy for aircraft size, payload, and mission assignment behavior.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1097280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defRPr sz="700" b="0">
                <a:solidFill>
                  <a:srgbClr val="5F7287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750" b="1">
                <a:solidFill>
                  <a:srgbClr val="5F7287"/>
                </a:solidFill>
              </a:defRPr>
            </a:pPr>
            <a:r>
              <a:t>SWEET SPOT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972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0233F"/>
                </a:solidFill>
              </a:defRPr>
            </a:pPr>
            <a:r>
              <a:t>Sweet Spots Measure Where Each Aircraft Performs Best</a:t>
            </a:r>
          </a:p>
        </p:txBody>
      </p:sp>
      <p:pic>
        <p:nvPicPr>
          <p:cNvPr id="5" name="Picture 4" descr="sweet_spot_wind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66294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60920" y="1234440"/>
            <a:ext cx="3840480" cy="3566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060">
                <a:solidFill>
                  <a:srgbClr val="1F2937"/>
                </a:solidFill>
              </a:defRPr>
            </a:pPr>
            <a:r>
              <a:rPr sz="1400" dirty="0"/>
              <a:t>Rank each aircraft family's flights by kg/NM.</a:t>
            </a:r>
            <a:endParaRPr lang="en-GB" sz="1400" dirty="0"/>
          </a:p>
          <a:p>
            <a:pPr>
              <a:spcAft>
                <a:spcPts val="400"/>
              </a:spcAft>
              <a:defRPr sz="1060">
                <a:solidFill>
                  <a:srgbClr val="1F2937"/>
                </a:solidFill>
              </a:defRPr>
            </a:pPr>
            <a:endParaRPr sz="1400" dirty="0"/>
          </a:p>
          <a:p>
            <a:pPr>
              <a:spcAft>
                <a:spcPts val="400"/>
              </a:spcAft>
              <a:defRPr sz="1060">
                <a:solidFill>
                  <a:srgbClr val="1F2937"/>
                </a:solidFill>
              </a:defRPr>
            </a:pPr>
            <a:r>
              <a:rPr sz="1400" dirty="0"/>
              <a:t>Use the best-performing 50% to define the aircraft's observed efficient operating conditions.</a:t>
            </a:r>
            <a:endParaRPr lang="en-GB" sz="1400" dirty="0"/>
          </a:p>
          <a:p>
            <a:pPr>
              <a:spcAft>
                <a:spcPts val="400"/>
              </a:spcAft>
              <a:defRPr sz="1060">
                <a:solidFill>
                  <a:srgbClr val="1F2937"/>
                </a:solidFill>
              </a:defRPr>
            </a:pPr>
            <a:endParaRPr sz="1400" dirty="0"/>
          </a:p>
          <a:p>
            <a:pPr>
              <a:spcAft>
                <a:spcPts val="400"/>
              </a:spcAft>
              <a:defRPr sz="1060">
                <a:solidFill>
                  <a:srgbClr val="1F2937"/>
                </a:solidFill>
              </a:defRPr>
            </a:pPr>
            <a:r>
              <a:rPr sz="1400" dirty="0"/>
              <a:t>Calculate IQR windows for distance, trip time, and TOW.</a:t>
            </a:r>
            <a:endParaRPr lang="en-GB" sz="1400" dirty="0"/>
          </a:p>
          <a:p>
            <a:pPr>
              <a:spcAft>
                <a:spcPts val="400"/>
              </a:spcAft>
              <a:defRPr sz="1060">
                <a:solidFill>
                  <a:srgbClr val="1F2937"/>
                </a:solidFill>
              </a:defRPr>
            </a:pPr>
            <a:endParaRPr sz="1400" dirty="0"/>
          </a:p>
          <a:p>
            <a:pPr>
              <a:spcAft>
                <a:spcPts val="400"/>
              </a:spcAft>
              <a:defRPr sz="1060">
                <a:solidFill>
                  <a:srgbClr val="1F2937"/>
                </a:solidFill>
              </a:defRPr>
            </a:pPr>
            <a:r>
              <a:rPr sz="1400" dirty="0"/>
              <a:t>A joint sweet-spot flight must fall inside all three windows.</a:t>
            </a:r>
            <a:endParaRPr lang="en-GB" sz="1400" dirty="0"/>
          </a:p>
          <a:p>
            <a:pPr>
              <a:spcAft>
                <a:spcPts val="400"/>
              </a:spcAft>
              <a:defRPr sz="1060">
                <a:solidFill>
                  <a:srgbClr val="1F2937"/>
                </a:solidFill>
              </a:defRPr>
            </a:pPr>
            <a:endParaRPr sz="1400" dirty="0"/>
          </a:p>
          <a:p>
            <a:pPr>
              <a:spcAft>
                <a:spcPts val="400"/>
              </a:spcAft>
              <a:defRPr sz="1060">
                <a:solidFill>
                  <a:srgbClr val="1F2937"/>
                </a:solidFill>
              </a:defRPr>
            </a:pPr>
            <a:r>
              <a:rPr sz="1400" dirty="0"/>
              <a:t>Quartiles do not assume a linear fuel curve; they define the central observed region of efficient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97880"/>
            <a:ext cx="11155680" cy="475488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233F"/>
                </a:solidFill>
              </a:defRPr>
            </a:pPr>
            <a:r>
              <a:t>This creates a fairer comparison space before route-level substitution is tested.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097280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defRPr sz="700" b="0">
                <a:solidFill>
                  <a:srgbClr val="5F7287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750" b="1">
                <a:solidFill>
                  <a:srgbClr val="5F7287"/>
                </a:solidFill>
              </a:defRPr>
            </a:pPr>
            <a:r>
              <a:t>BEFORE / AFTER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972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0233F"/>
                </a:solidFill>
              </a:defRPr>
            </a:pPr>
            <a:r>
              <a:t>Joint Sweet-Spot Filtering Creates a Comparable Operating Sample</a:t>
            </a:r>
          </a:p>
        </p:txBody>
      </p:sp>
      <p:pic>
        <p:nvPicPr>
          <p:cNvPr id="5" name="Picture 4" descr="joint_sweetspot_before_after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440680" cy="3977639"/>
          </a:xfrm>
          <a:prstGeom prst="rect">
            <a:avLst/>
          </a:prstGeom>
        </p:spPr>
      </p:pic>
      <p:pic>
        <p:nvPicPr>
          <p:cNvPr id="6" name="Picture 5" descr="joint_sweetspot_before_after_fuel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440680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349240"/>
            <a:ext cx="10515600" cy="4114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defRPr sz="1100" b="1">
                <a:solidFill>
                  <a:srgbClr val="10233F"/>
                </a:solidFill>
              </a:defRPr>
            </a:pPr>
            <a:r>
              <a:rPr lang="en-GB" dirty="0"/>
              <a:t>Nonlinear </a:t>
            </a:r>
            <a:r>
              <a:rPr dirty="0"/>
              <a:t>aircraft behavior makes global linear comparisons risky, while quartiles provide a robust, model-free way to compare the central operating range of each aircraft's efficient flights.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897880"/>
            <a:ext cx="11155680" cy="475488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233F"/>
                </a:solidFill>
              </a:defRPr>
            </a:pPr>
            <a:r>
              <a:t>The filter removes tail behavior and mission-mix noise before any substitution candidates are ranked.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1097280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defRPr sz="700" b="0">
                <a:solidFill>
                  <a:srgbClr val="5F7287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750" b="1">
                <a:solidFill>
                  <a:srgbClr val="5F7287"/>
                </a:solidFill>
              </a:defRPr>
            </a:pPr>
            <a:r>
              <a:t>OPPORTUNITY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972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0233F"/>
                </a:solidFill>
              </a:defRPr>
            </a:pPr>
            <a:r>
              <a:t>Fuel-Only Screening Finds Three Possible Swap Directions</a:t>
            </a:r>
          </a:p>
        </p:txBody>
      </p:sp>
      <p:pic>
        <p:nvPicPr>
          <p:cNvPr id="5" name="Picture 4" descr="fuel_only_sw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6629400" cy="41605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364977"/>
              </p:ext>
            </p:extLst>
          </p:nvPr>
        </p:nvGraphicFramePr>
        <p:xfrm>
          <a:off x="7315200" y="1508760"/>
          <a:ext cx="4251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Fuel-only direction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Routes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Worse-aircraft flights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Median kg/NM saving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A320 replacing A321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1957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14.6%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ATR replacing E1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459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57.5%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E2 replacing E1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17.7%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4700016"/>
            <a:ext cx="3977639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1F2937"/>
                </a:solidFill>
              </a:defRPr>
            </a:pPr>
            <a:r>
              <a:rPr dirty="0"/>
              <a:t>Fuel-only savings are not enough: a smaller aircraft may require more frequencies to maintain seat supply.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897880"/>
            <a:ext cx="11155680" cy="475488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233F"/>
                </a:solidFill>
              </a:defRPr>
            </a:pPr>
            <a:r>
              <a:t>The next screen tests whether each candidate still works when approximate seat capacity is preserved.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1097280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defRPr sz="700" b="0">
                <a:solidFill>
                  <a:srgbClr val="5F7287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750" b="1">
                <a:solidFill>
                  <a:srgbClr val="5F7287"/>
                </a:solidFill>
              </a:defRPr>
            </a:pPr>
            <a:r>
              <a:t>DECISION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972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0233F"/>
                </a:solidFill>
              </a:defRPr>
            </a:pPr>
            <a:r>
              <a:t>The Capacity Screen Makes E2-for-E1 the Strongest Candidate</a:t>
            </a:r>
          </a:p>
        </p:txBody>
      </p:sp>
      <p:pic>
        <p:nvPicPr>
          <p:cNvPr id="5" name="Picture 4" descr="capacity_scree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6355080" cy="41605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753909"/>
              </p:ext>
            </p:extLst>
          </p:nvPr>
        </p:nvGraphicFramePr>
        <p:xfrm>
          <a:off x="7086600" y="1143000"/>
          <a:ext cx="4480560" cy="1844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>
                        <a:defRPr sz="67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Substitution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7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Routes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7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Median extra flights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7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Median equal-seat saving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>
                        <a:defRPr sz="670">
                          <a:solidFill>
                            <a:srgbClr val="1F2937"/>
                          </a:solidFill>
                        </a:defRPr>
                      </a:pPr>
                      <a:r>
                        <a:rPr sz="1200"/>
                        <a:t>E2 replacing E1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70">
                          <a:solidFill>
                            <a:srgbClr val="1F2937"/>
                          </a:solidFill>
                        </a:defRPr>
                      </a:pPr>
                      <a:r>
                        <a:rPr sz="1200"/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70">
                          <a:solidFill>
                            <a:srgbClr val="1F2937"/>
                          </a:solidFill>
                        </a:defRPr>
                      </a:pPr>
                      <a:r>
                        <a:rPr sz="1200"/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70">
                          <a:solidFill>
                            <a:srgbClr val="1F2937"/>
                          </a:solidFill>
                        </a:defRPr>
                      </a:pPr>
                      <a:r>
                        <a:rPr sz="1200"/>
                        <a:t>26.8%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>
                        <a:defRPr sz="670">
                          <a:solidFill>
                            <a:srgbClr val="1F2937"/>
                          </a:solidFill>
                        </a:defRPr>
                      </a:pPr>
                      <a:r>
                        <a:rPr sz="1200"/>
                        <a:t>ATR replacing E1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70">
                          <a:solidFill>
                            <a:srgbClr val="1F2937"/>
                          </a:solidFill>
                        </a:defRPr>
                      </a:pPr>
                      <a:r>
                        <a:rPr sz="1200"/>
                        <a:t>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70">
                          <a:solidFill>
                            <a:srgbClr val="1F2937"/>
                          </a:solidFill>
                        </a:defRPr>
                      </a:pPr>
                      <a:r>
                        <a:rPr sz="1200"/>
                        <a:t>68.6%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70">
                          <a:solidFill>
                            <a:srgbClr val="1F2937"/>
                          </a:solidFill>
                        </a:defRPr>
                      </a:pPr>
                      <a:r>
                        <a:rPr sz="1200"/>
                        <a:t>33.5%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300">
                <a:tc>
                  <a:txBody>
                    <a:bodyPr/>
                    <a:lstStyle/>
                    <a:p>
                      <a:pPr>
                        <a:defRPr sz="670">
                          <a:solidFill>
                            <a:srgbClr val="1F2937"/>
                          </a:solidFill>
                        </a:defRPr>
                      </a:pPr>
                      <a:r>
                        <a:rPr sz="1200"/>
                        <a:t>A320 replacing A321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70">
                          <a:solidFill>
                            <a:srgbClr val="1F2937"/>
                          </a:solidFill>
                        </a:defRPr>
                      </a:pPr>
                      <a:r>
                        <a:rPr sz="1200"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70">
                          <a:solidFill>
                            <a:srgbClr val="1F2937"/>
                          </a:solidFill>
                        </a:defRPr>
                      </a:pPr>
                      <a:r>
                        <a:rPr sz="1200"/>
                        <a:t>23.0%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70">
                          <a:solidFill>
                            <a:srgbClr val="1F2937"/>
                          </a:solidFill>
                        </a:defRPr>
                      </a:pPr>
                      <a:r>
                        <a:rPr sz="1200" dirty="0"/>
                        <a:t>-4.6%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561951"/>
              </p:ext>
            </p:extLst>
          </p:nvPr>
        </p:nvGraphicFramePr>
        <p:xfrm>
          <a:off x="7086600" y="3099816"/>
          <a:ext cx="2194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Aircraft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Seat proxy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ATR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E1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118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A320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174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A321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09760" y="3707351"/>
            <a:ext cx="192024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60" b="1">
                <a:solidFill>
                  <a:srgbClr val="10233F"/>
                </a:solidFill>
              </a:defRPr>
            </a:pPr>
            <a:r>
              <a:rPr sz="1400" dirty="0"/>
              <a:t>Seat values are fixed aircraft-family assumptions, not load-factor estimates.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3740" y="5078951"/>
            <a:ext cx="43434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30" b="0">
                <a:solidFill>
                  <a:srgbClr val="1F2937"/>
                </a:solidFill>
              </a:defRPr>
            </a:pPr>
            <a:r>
              <a:rPr sz="1100" dirty="0"/>
              <a:t>E2-for-E1 remains fuel-positive without extra frequency because the assumed E2 seat count exceeds E1. A320-for-A321 turns negative; ATR-for-E1 requires 68.6% more flights.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897880"/>
            <a:ext cx="11155680" cy="475488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233F"/>
                </a:solidFill>
              </a:defRPr>
            </a:pPr>
            <a:r>
              <a:t>E2 replacing E1 is the only direction that passes both the fuel and equal-seat-supply screens without extra flights.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1097280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defRPr sz="700" b="0">
                <a:solidFill>
                  <a:srgbClr val="5F7287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750" b="1">
                <a:solidFill>
                  <a:srgbClr val="5F7287"/>
                </a:solidFill>
              </a:defRPr>
            </a:pPr>
            <a:r>
              <a:t>ROUTE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972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0233F"/>
                </a:solidFill>
              </a:defRPr>
            </a:pPr>
            <a:r>
              <a:t>Seven Routes Form the Initial E2-for-E1 Validation Queue</a:t>
            </a:r>
          </a:p>
        </p:txBody>
      </p:sp>
      <p:pic>
        <p:nvPicPr>
          <p:cNvPr id="5" name="Picture 4" descr="e2_route_opportun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658368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417320"/>
            <a:ext cx="18288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7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routes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417320"/>
            <a:ext cx="18288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641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E1 sweet flights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514600"/>
            <a:ext cx="18288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26.8%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median saving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2514600"/>
            <a:ext cx="18288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751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kg per observed E1 flight equivalent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657600"/>
            <a:ext cx="384048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80" b="0">
                <a:solidFill>
                  <a:srgbClr val="1F2937"/>
                </a:solidFill>
              </a:defRPr>
            </a:pPr>
            <a:r>
              <a:rPr sz="1400" dirty="0"/>
              <a:t>Total modeled saving: 481,443 kg over equivalent observed seat supply. This value is not annualized and does not represent total network fuel.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897880"/>
            <a:ext cx="11155680" cy="475488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233F"/>
                </a:solidFill>
              </a:defRPr>
            </a:pPr>
            <a:r>
              <a:t>Use these routes as a prioritized engineering and scheduling review list.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1097280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defRPr sz="700" b="0">
                <a:solidFill>
                  <a:srgbClr val="5F7287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750" b="1">
                <a:solidFill>
                  <a:srgbClr val="5F7287"/>
                </a:solidFill>
              </a:defRPr>
            </a:pPr>
            <a:r>
              <a:t>ROUTE-MONTH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972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0233F"/>
                </a:solidFill>
              </a:defRPr>
            </a:pPr>
            <a:r>
              <a:t>The Seasonal Engine Translates Route Evidence Into Timing Signals</a:t>
            </a:r>
          </a:p>
        </p:txBody>
      </p:sp>
      <p:pic>
        <p:nvPicPr>
          <p:cNvPr id="5" name="Picture 4" descr="seasonal_route_mon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48740"/>
            <a:ext cx="658368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600200"/>
            <a:ext cx="18288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12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E1-to-E2 route-months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600200"/>
            <a:ext cx="18288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5EB8"/>
                </a:solidFill>
              </a:defRPr>
            </a:pPr>
            <a:r>
              <a:t>98k kg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sum of kg per route-month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811780"/>
            <a:ext cx="393192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</a:defRPr>
            </a:pPr>
            <a:r>
              <a:rPr sz="1400" dirty="0"/>
              <a:t>Route-months are compared with each route's own median behavior.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</a:defRPr>
            </a:pPr>
            <a:r>
              <a:rPr sz="1400" dirty="0"/>
              <a:t>E1-to-E2 flags require E1 primary aircraft, seasonal load/frequency signal, and observed E2 kg/NM advantage.</a:t>
            </a:r>
          </a:p>
          <a:p>
            <a:pPr>
              <a:spcAft>
                <a:spcPts val="400"/>
              </a:spcAft>
              <a:defRPr sz="1050">
                <a:solidFill>
                  <a:srgbClr val="1F2937"/>
                </a:solidFill>
              </a:defRPr>
            </a:pPr>
            <a:r>
              <a:rPr sz="1400" dirty="0"/>
              <a:t>The metric is kg saved per route-month, separate from the equal-seat sweet-spot estimate.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897880"/>
            <a:ext cx="11155680" cy="475488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233F"/>
                </a:solidFill>
              </a:defRPr>
            </a:pPr>
            <a:r>
              <a:t>Seasonal outputs are scheduling review targets, not automatic assignment instructions.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1097280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defRPr sz="700" b="0">
                <a:solidFill>
                  <a:srgbClr val="5F7287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750" b="1">
                <a:solidFill>
                  <a:srgbClr val="5F7287"/>
                </a:solidFill>
              </a:defRPr>
            </a:pPr>
            <a:r>
              <a:t>OPERATIONAL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972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0233F"/>
                </a:solidFill>
              </a:defRPr>
            </a:pPr>
            <a:r>
              <a:t>Operational Implication: Treat the Output as a Ranked Validation List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572113"/>
              </p:ext>
            </p:extLst>
          </p:nvPr>
        </p:nvGraphicFramePr>
        <p:xfrm>
          <a:off x="685800" y="1143000"/>
          <a:ext cx="10835640" cy="2750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91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Layer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Operational meaning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41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Supported 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Prioritize E2 allocation where E1 and E2 overlap and the equal-seat fuel screen is positive.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41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Implementation use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Create a route and route-month review queue for schedule planning and fleet assignment teams.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41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What remains 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Tail rotations, crew currency, maintenance checks, gates, slots, payload restrictions, and economics.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41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Measurement plan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Track kg per flight and kg/NM before/after candidate reassignment against comparable control routes.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261301"/>
            <a:ext cx="1060704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rPr sz="1400" dirty="0"/>
              <a:t>The analysis does not argue for broad replacement of E1 with E2; it prioritizes where the next available E2 is expected to produce the largest fuel benefit.</a:t>
            </a:r>
            <a:endParaRPr lang="en-GB" sz="1400" dirty="0"/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endParaRPr sz="1400" dirty="0"/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rPr sz="1400" dirty="0"/>
              <a:t>Route-level evidence should be validated inside the actual rotations that operate each candidate segment.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97880"/>
            <a:ext cx="11155680" cy="475488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233F"/>
                </a:solidFill>
              </a:defRPr>
            </a:pPr>
            <a:r>
              <a:t>The output is decision support for Azul teams, not a standalone optimizer.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097280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defRPr sz="700" b="0">
                <a:solidFill>
                  <a:srgbClr val="5F7287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750" b="1">
                <a:solidFill>
                  <a:srgbClr val="5F7287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972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0233F"/>
                </a:solidFill>
              </a:defRPr>
            </a:pPr>
            <a:r>
              <a:t>Recommended Implementation Path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622911"/>
              </p:ext>
            </p:extLst>
          </p:nvPr>
        </p:nvGraphicFramePr>
        <p:xfrm>
          <a:off x="594360" y="1143000"/>
          <a:ext cx="109728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521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Phase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Action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Decision output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8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1. Validate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Review seven E2-for-E1 routes against rotations, airport compatibility, crew, and maintenance constraints.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Confirmed pilot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8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2. Pilot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Assign E2 capacity to validated corridors where schedule integrity and seat supply are preserved.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Measured fuel impact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2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3. Institutionalize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Run the seasonal route-month screen before schedule planning cycles.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Repeatable allocation 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8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4. Expand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Add demand, fare, cost, and tail-level constraints to move from screening to optimization.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Constrained assignment model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867754"/>
            <a:ext cx="1042416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10233F"/>
                </a:solidFill>
              </a:defRPr>
            </a:pPr>
            <a:r>
              <a:rPr dirty="0"/>
              <a:t>Immediate recommendation: start with the seven E2-for-E1 candidate routes and validate feasibility before broadening the scope.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97880"/>
            <a:ext cx="11155680" cy="475488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233F"/>
                </a:solidFill>
              </a:defRPr>
            </a:pPr>
            <a:r>
              <a:t>The next decision is not whether E2 is generally better; it is where E2 allocation should be prioritized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097280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defRPr sz="700" b="0">
                <a:solidFill>
                  <a:srgbClr val="5F7287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750" b="1">
                <a:solidFill>
                  <a:srgbClr val="5F7287"/>
                </a:solidFill>
              </a:defRPr>
            </a:pPr>
            <a: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"/>
            <a:ext cx="10972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0233F"/>
                </a:solidFill>
              </a:defRPr>
            </a:pPr>
            <a:r>
              <a:t>Constraints and Next Steps for Azul Validation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53037"/>
              </p:ext>
            </p:extLst>
          </p:nvPr>
        </p:nvGraphicFramePr>
        <p:xfrm>
          <a:off x="594360" y="1143000"/>
          <a:ext cx="10972800" cy="35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903"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Validation area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Next analytical step</a:t>
                      </a:r>
                    </a:p>
                  </a:txBody>
                  <a:tcPr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395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rPr sz="1600"/>
                        <a:t>Demand and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rPr sz="1600"/>
                        <a:t>Replace seat proxy with real seats by tail/subfleet, bookings, load factor, spill, and revenue data.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395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rPr sz="1600"/>
                        <a:t>Operations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rPr sz="1600"/>
                        <a:t>Check tail rotations, crew availability, maintenance timing, turn times, and hub connectivity.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395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rPr sz="1600"/>
                        <a:t>Airport feasibility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rPr sz="1600"/>
                        <a:t>Validate gates, ramp handling, slots, runway limits, and payload restrictions station-by-station.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395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rPr sz="1600"/>
                        <a:t>Economics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rPr sz="1600"/>
                        <a:t>Convert gross fuel saving into net contribution with lease, maintenance reserve, crew, and delay costs.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395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rPr sz="1600"/>
                        <a:t>Pilot measurement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F2937"/>
                          </a:solidFill>
                        </a:defRPr>
                      </a:pPr>
                      <a:r>
                        <a:rPr sz="1600" dirty="0"/>
                        <a:t>Use before/after kg per flight and kg/NM tracking against comparable controls.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75207" y="4869180"/>
            <a:ext cx="102412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10233F"/>
                </a:solidFill>
              </a:defRPr>
            </a:pPr>
            <a:r>
              <a:rPr dirty="0"/>
              <a:t>The central result is robust as a fuel-prioritization rule, but final implementation requires Azul-internal constraint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97880"/>
            <a:ext cx="11155680" cy="475488"/>
          </a:xfrm>
          <a:prstGeom prst="roundRect">
            <a:avLst/>
          </a:prstGeom>
          <a:solidFill>
            <a:srgbClr val="EAF3FC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233F"/>
                </a:solidFill>
              </a:defRPr>
            </a:pPr>
            <a:r>
              <a:t>Next project phase: constrained implementation model seeded by the E2-for-E1 opportunities identified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097280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defRPr sz="700" b="0">
                <a:solidFill>
                  <a:srgbClr val="5F7287"/>
                </a:solidFill>
              </a:defRPr>
            </a:pPr>
            <a:r>
              <a:t>Sources: Azul_DataSample.xlsx, Azul_Project_Data_2.xlsx, Main Fleet Analysis.ipynb, azul_seasonal_fleet_assignment_v2.py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2203</Words>
  <Application>Microsoft Office PowerPoint</Application>
  <PresentationFormat>Widescreen</PresentationFormat>
  <Paragraphs>312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Eduardo Monteiro Rosa de Souza</cp:lastModifiedBy>
  <cp:revision>2</cp:revision>
  <dcterms:created xsi:type="dcterms:W3CDTF">2013-01-27T09:14:16Z</dcterms:created>
  <dcterms:modified xsi:type="dcterms:W3CDTF">2026-05-20T11:02:44Z</dcterms:modified>
  <cp:category/>
</cp:coreProperties>
</file>