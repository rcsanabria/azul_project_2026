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Fuel Waste Reduction Through Fleet Reassignment Prioritization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31520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10233F"/>
                </a:solidFill>
              </a:defRPr>
            </a:pPr>
            <a:r>
              <a:t>An evidence-based project presentation for prioritizing operationally feasible E2 allocation opportunities inside Azul's observed network.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210312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288,107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cleaned flight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63240" y="2834640"/>
            <a:ext cx="210312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419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origin-destination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834640"/>
            <a:ext cx="210312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7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E2-for-E1 route priorities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834640"/>
            <a:ext cx="237744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481k kg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modeled fuel saving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859536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1F2937"/>
                </a:solidFill>
              </a:defRPr>
            </a:pPr>
            <a:r>
              <a:t>Observed sample period: 2024-01-01 to 2025-11-15. Fuel burn is measured in kg because the source field is TripFuelBurnTotal [KG].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Primary decision: prioritize E2 frames on route groups where E1 and E2 already overlap operationally and the equal-seat screen remains fuel-positive.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Executive Summary: E2-for-E1 is the Clearest Actionable Opportunity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214884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7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candidate routes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234440"/>
            <a:ext cx="214884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641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observed E1 sweet-spot flights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1234440"/>
            <a:ext cx="214884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26.8%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median equal-seat fuel saving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234440"/>
            <a:ext cx="2240280" cy="91440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481,443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kg over equivalent observed seat supply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9966960" cy="2468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Fuel-only screening finds three possible substitution directions, but two weaken after capacity is held constant.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E2 replacing E1 is the only direction that is fuel-positive without requiring additional frequency under the seat-capacity proxy.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The result is a prioritization rule for E2 allocation, not an automatic fleet-assignment decision.</a:t>
            </a:r>
          </a:p>
          <a:p>
            <a:pPr>
              <a:spcAft>
                <a:spcPts val="400"/>
              </a:spcAft>
              <a:defRPr sz="1300">
                <a:solidFill>
                  <a:srgbClr val="1F2937"/>
                </a:solidFill>
              </a:defRPr>
            </a:pPr>
            <a:r>
              <a:t>Implementation should proceed through route and rotation validation before schedule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Recommendation: use the seven candidate routes as the first validation queue for incoming E2 allocation.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The Operational Problem is Avoidable Fuel Burn, Not Abstract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493776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</a:defRPr>
            </a:pPr>
            <a:r>
              <a:t>Azul operates a mixed fleet across regional, medium-haul, and longer narrowbody missions.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</a:defRPr>
            </a:pPr>
            <a:r>
              <a:t>Raw fuel consumption is driven by route length, payload, take-off weight, aircraft type, and frequency.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</a:defRPr>
            </a:pPr>
            <a:r>
              <a:t>The project objective is to identify reassignment candidates that reduce fuel burn while preserving operational feasibility.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</a:defRPr>
            </a:pPr>
            <a:r>
              <a:t>The analysis treats fuel waste as avoidable kg of fuel under a feasible alternative aircraft assignment.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17320"/>
            <a:ext cx="4754880" cy="1234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000" b="1">
                <a:solidFill>
                  <a:srgbClr val="005EB8"/>
                </a:solidFill>
              </a:defRPr>
            </a:pPr>
            <a:r>
              <a:t>Decision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057400"/>
            <a:ext cx="484632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1">
                <a:solidFill>
                  <a:srgbClr val="10233F"/>
                </a:solidFill>
              </a:defRPr>
            </a:pPr>
            <a:r>
              <a:t>Fuel saved (kg) is always scoped to a denominator: per observed flight, per route-month, or over equivalent observed seat supply.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657600"/>
            <a:ext cx="457200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1F2937"/>
                </a:solidFill>
              </a:defRPr>
            </a:pPr>
            <a:r>
              <a:t>The result identifies candidate opportunities. It does not replace Azul's crew, maintenance, airport, and rotation planning systems.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project narrows a broad fuel-efficiency question into specific route and route-month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DATA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The Evidence Base Combines Flight Operations With Load Proxies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9728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5029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Use in analysis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Operational flights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Azul_DataSample.xlsx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288,337 raw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fuel kg, TOW kg, time sec, distance NM, route, aircraft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Load evidence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Azul_Project_Data_2.xlsx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route / flight / equipment averages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passengers per flight proxy, payload kg, cargo, baggage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Analysis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v2 cleaned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288,107 rows; 230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filters remove invalid denominators and implausible speeds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3703320"/>
            <a:ext cx="210312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113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airports in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703320"/>
            <a:ext cx="210312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419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routes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703320"/>
            <a:ext cx="210312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90.46%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exact load join share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3703320"/>
            <a:ext cx="210312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99.92%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records retained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Data preparation is intentionally light-touch: only records with invalid or implausible efficiency denominators are removed.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ANALYTICAL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The Analysis Uses a Decision Funnel to Avoid False Comparisons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3246120" cy="1097280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38074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1. Fleet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69164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Understand mission bands and aircraft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234440"/>
            <a:ext cx="3246120" cy="1097280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1" y="138074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2. Operating envelopes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1" y="169164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Define TOW and sweet-spot conditions by aircraft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234440"/>
            <a:ext cx="3246120" cy="1097280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38074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3. Overlap screen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169164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Compare only routes where multiple aircraft appear in sweet spots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3246120" cy="1097280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25526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4. Capacity screen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56616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Hold approximate seat supply constant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3108960"/>
            <a:ext cx="3246120" cy="1097280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1" y="325526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5. Seasonal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1" y="356616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Translate structural route evidence into route-month review targets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108960"/>
            <a:ext cx="3246120" cy="109728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3255264"/>
            <a:ext cx="28803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1">
                <a:solidFill>
                  <a:srgbClr val="005EB8"/>
                </a:solidFill>
              </a:defRPr>
            </a:pPr>
            <a:r>
              <a:t>6. Operational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1" y="3566160"/>
            <a:ext cx="288036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50" b="0">
                <a:solidFill>
                  <a:srgbClr val="1F2937"/>
                </a:solidFill>
              </a:defRPr>
            </a:pPr>
            <a:r>
              <a:t>Check rotations, crew, airport, maintenance, and economics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funnel is designed to move from broad operational data to a short list of implementable candidates.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FLEET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Fleet Families Operate in Different Mission Bands</a:t>
            </a:r>
          </a:p>
        </p:txBody>
      </p:sp>
      <p:pic>
        <p:nvPicPr>
          <p:cNvPr id="5" name="Picture 4" descr="fleet_mission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78992"/>
            <a:ext cx="6629400" cy="42519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234440"/>
          <a:ext cx="42519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850392"/>
                <a:gridCol w="850392"/>
                <a:gridCol w="850392"/>
                <a:gridCol w="850392"/>
              </a:tblGrid>
              <a:tr h="3581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Aircraft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Flights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Median distance (NM)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Median TOW (kg)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Median fuel (kg/NM)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ATR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78,452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231.0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21,225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2.96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E1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44,805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295.6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44,429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6.67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50,191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382.4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52,745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4.98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A320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100,865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889.2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66,644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5.38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A321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13,794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1,170.4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80,116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6.01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3703320"/>
            <a:ext cx="3977639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20" b="0">
                <a:solidFill>
                  <a:srgbClr val="1F2937"/>
                </a:solidFill>
              </a:defRPr>
            </a:pPr>
            <a:r>
              <a:t>Direct cross-fleet fuel comparisons would overstate differences caused by mission length and aircraft role.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Operational comparability is required before ranking aircraft by fuel burn.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OPERATING ENVELOPES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Operating Envelopes Define the Comparable Space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097280"/>
          <a:ext cx="50749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984"/>
                <a:gridCol w="1014984"/>
                <a:gridCol w="1014984"/>
                <a:gridCol w="1014984"/>
                <a:gridCol w="1014984"/>
              </a:tblGrid>
              <a:tr h="3429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Aircraft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Flights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Low TOW (kg)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Median TOW (kg)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High TOW (kg)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78,452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18,948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21,225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22,305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E1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44,805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40,868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44,429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46,299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50,191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49,129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52,745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55,191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A320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100,865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61,142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66,644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70,963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A321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13,794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72,751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80,116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F2937"/>
                          </a:solidFill>
                        </a:defRPr>
                      </a:pPr>
                      <a:r>
                        <a:t>84,299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ircraft_tow_reg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078992"/>
            <a:ext cx="534924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703320"/>
            <a:ext cx="466344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20" b="0">
                <a:solidFill>
                  <a:srgbClr val="1F2937"/>
                </a:solidFill>
              </a:defRPr>
            </a:pPr>
            <a:r>
              <a:t>TOW regimes are inferred from central observed operations and help classify whether a route-month behaves like a lighter or heavier aircraft assignment.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TOW is used as an operational proxy for aircraft size, payload, and mission assignment behavior.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SWEET SPOT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Sweet Spots Measure Where Each Aircraft Performs Best</a:t>
            </a:r>
          </a:p>
        </p:txBody>
      </p:sp>
      <p:pic>
        <p:nvPicPr>
          <p:cNvPr id="5" name="Picture 4" descr="sweet_spot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6294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60920" y="1234440"/>
            <a:ext cx="3840480" cy="3566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060">
                <a:solidFill>
                  <a:srgbClr val="1F2937"/>
                </a:solidFill>
              </a:defRPr>
            </a:pPr>
            <a:r>
              <a:t>Rank each aircraft family's flights by kg/NM.</a:t>
            </a:r>
          </a:p>
          <a:p>
            <a:pPr>
              <a:spcAft>
                <a:spcPts val="400"/>
              </a:spcAft>
              <a:defRPr sz="1060">
                <a:solidFill>
                  <a:srgbClr val="1F2937"/>
                </a:solidFill>
              </a:defRPr>
            </a:pPr>
            <a:r>
              <a:t>Use the best-performing 50% to define the aircraft's observed efficient operating conditions.</a:t>
            </a:r>
          </a:p>
          <a:p>
            <a:pPr>
              <a:spcAft>
                <a:spcPts val="400"/>
              </a:spcAft>
              <a:defRPr sz="1060">
                <a:solidFill>
                  <a:srgbClr val="1F2937"/>
                </a:solidFill>
              </a:defRPr>
            </a:pPr>
            <a:r>
              <a:t>Calculate IQR windows for distance, trip time, and TOW.</a:t>
            </a:r>
          </a:p>
          <a:p>
            <a:pPr>
              <a:spcAft>
                <a:spcPts val="400"/>
              </a:spcAft>
              <a:defRPr sz="1060">
                <a:solidFill>
                  <a:srgbClr val="1F2937"/>
                </a:solidFill>
              </a:defRPr>
            </a:pPr>
            <a:r>
              <a:t>A joint sweet-spot flight must fall inside all three windows.</a:t>
            </a:r>
          </a:p>
          <a:p>
            <a:pPr>
              <a:spcAft>
                <a:spcPts val="400"/>
              </a:spcAft>
              <a:defRPr sz="1060">
                <a:solidFill>
                  <a:srgbClr val="1F2937"/>
                </a:solidFill>
              </a:defRPr>
            </a:pPr>
            <a:r>
              <a:t>Quartiles do not assume a linear fuel curve; they define the central observed region of efficient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This creates a fairer comparison space before route-level substitution is tested.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BEFORE / AFTER FILTER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Joint Sweet-Spot Filtering Creates a Comparable Operating Sample</a:t>
            </a:r>
          </a:p>
        </p:txBody>
      </p:sp>
      <p:pic>
        <p:nvPicPr>
          <p:cNvPr id="5" name="Picture 4" descr="joint_sweetspot_before_after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5440680" cy="3977639"/>
          </a:xfrm>
          <a:prstGeom prst="rect">
            <a:avLst/>
          </a:prstGeom>
        </p:spPr>
      </p:pic>
      <p:pic>
        <p:nvPicPr>
          <p:cNvPr id="6" name="Picture 5" descr="joint_sweetspot_before_after_fu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440680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349240"/>
            <a:ext cx="10515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1">
                <a:solidFill>
                  <a:srgbClr val="10233F"/>
                </a:solidFill>
              </a:defRPr>
            </a:pPr>
            <a:r>
              <a:t>Why this filter is appropriate: nonlinear aircraft behavior makes global linear comparisons risky, while quartiles provide a robust, model-free way to compare the central operating range of each aircraft's efficient flights.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filter removes tail behavior and mission-mix noise before any substitution candidates are ranked.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OPPORTUNITY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Fuel-Only Screening Finds Three Possible Swap Directions</a:t>
            </a:r>
          </a:p>
        </p:txBody>
      </p:sp>
      <p:pic>
        <p:nvPicPr>
          <p:cNvPr id="5" name="Picture 4" descr="fuel_only_sw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629400" cy="4160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417320"/>
          <a:ext cx="42519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990"/>
                <a:gridCol w="1062990"/>
                <a:gridCol w="1062990"/>
                <a:gridCol w="1062990"/>
              </a:tblGrid>
              <a:tr h="35433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Fuel-only direction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Routes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Worse-aircraft flights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FFFF"/>
                          </a:solidFill>
                        </a:defRPr>
                      </a:pPr>
                      <a:r>
                        <a:t>Median kg/NM saving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A320 replacing A321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ATR replacing E1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459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57.5%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E2 replacing E1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>
                          <a:solidFill>
                            <a:srgbClr val="1F2937"/>
                          </a:solidFill>
                        </a:defRPr>
                      </a:pPr>
                      <a:r>
                        <a:t>17.7%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3246120"/>
            <a:ext cx="3977639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20" b="0">
                <a:solidFill>
                  <a:srgbClr val="1F2937"/>
                </a:solidFill>
              </a:defRPr>
            </a:pPr>
            <a:r>
              <a:t>Fuel-only savings are not enough: a smaller aircraft may require more frequencies to maintain seat supply.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next screen tests whether each candidate still works when approximate seat capacity is preserved.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DECISION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The Capacity Screen Makes E2-for-E1 the Strongest Candidate</a:t>
            </a:r>
          </a:p>
        </p:txBody>
      </p:sp>
      <p:pic>
        <p:nvPicPr>
          <p:cNvPr id="5" name="Picture 4" descr="capacity_scree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355080" cy="4160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086600" y="1143000"/>
          <a:ext cx="4480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308610">
                <a:tc>
                  <a:txBody>
                    <a:bodyPr/>
                    <a:lstStyle/>
                    <a:p>
                      <a:pPr>
                        <a:defRPr sz="670" b="1">
                          <a:solidFill>
                            <a:srgbClr val="FFFFFF"/>
                          </a:solidFill>
                        </a:defRPr>
                      </a:pPr>
                      <a:r>
                        <a:t>Substitution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 b="1">
                          <a:solidFill>
                            <a:srgbClr val="FFFFFF"/>
                          </a:solidFill>
                        </a:defRPr>
                      </a:pPr>
                      <a:r>
                        <a:t>Routes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 b="1">
                          <a:solidFill>
                            <a:srgbClr val="FFFFFF"/>
                          </a:solidFill>
                        </a:defRPr>
                      </a:pPr>
                      <a:r>
                        <a:t>Median extra flights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 b="1">
                          <a:solidFill>
                            <a:srgbClr val="FFFFFF"/>
                          </a:solidFill>
                        </a:defRPr>
                      </a:pPr>
                      <a:r>
                        <a:t>Median equal-seat saving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E2 replacing E1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ATR replacing E1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68.6%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33.5%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A320 replacing A321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23.0%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70">
                          <a:solidFill>
                            <a:srgbClr val="1F2937"/>
                          </a:solidFill>
                        </a:defRPr>
                      </a:pPr>
                      <a:r>
                        <a:t>-4.6%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86600" y="2670048"/>
          <a:ext cx="2194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Aircraft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Seat proxy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ATR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E1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A320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174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A321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>
                          <a:solidFill>
                            <a:srgbClr val="1F2937"/>
                          </a:solidFill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464040" y="2670048"/>
            <a:ext cx="192024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60" b="1">
                <a:solidFill>
                  <a:srgbClr val="10233F"/>
                </a:solidFill>
              </a:defRPr>
            </a:pPr>
            <a:r>
              <a:t>Seat values are fixed aircraft-family assumptions, not load-factor estimates.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4251960"/>
            <a:ext cx="434340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30" b="0">
                <a:solidFill>
                  <a:srgbClr val="1F2937"/>
                </a:solidFill>
              </a:defRPr>
            </a:pPr>
            <a:r>
              <a:t>E2-for-E1 remains fuel-positive without extra frequency because the assumed E2 seat count exceeds E1. A320-for-A321 turns negative; ATR-for-E1 requires 68.6% more flights.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E2 replacing E1 is the only direction that passes both the fuel and equal-seat-supply screens without extra flights.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ROUTE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Seven Routes Form the Initial E2-for-E1 Validation Queue</a:t>
            </a:r>
          </a:p>
        </p:txBody>
      </p:sp>
      <p:pic>
        <p:nvPicPr>
          <p:cNvPr id="5" name="Picture 4" descr="e2_route_opportun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583680" cy="4160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14300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7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72600" y="114300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641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E1 sweet flights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24028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26.8%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median saving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72600" y="224028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751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kg per observed E1 flight equivalent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474720"/>
            <a:ext cx="38404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80" b="0">
                <a:solidFill>
                  <a:srgbClr val="1F2937"/>
                </a:solidFill>
              </a:defRPr>
            </a:pPr>
            <a:r>
              <a:t>Total modeled saving: 481,443 kg over equivalent observed seat supply. This value is not annualized and does not represent total network fuel.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Use these routes as a prioritized engineering and scheduling review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ROUTE-MONTH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The Seasonal Engine Translates Route Evidence Into Timing Signals</a:t>
            </a:r>
          </a:p>
        </p:txBody>
      </p:sp>
      <p:pic>
        <p:nvPicPr>
          <p:cNvPr id="5" name="Picture 4" descr="seasonal_route_mon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6583680" cy="4160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23444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12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E1-to-E2 route-months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72600" y="1234440"/>
            <a:ext cx="1828800" cy="822960"/>
          </a:xfrm>
          <a:prstGeom prst="roundRect">
            <a:avLst/>
          </a:prstGeom>
          <a:solidFill>
            <a:srgbClr val="F5F7FA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05EB8"/>
                </a:solidFill>
              </a:defRPr>
            </a:pPr>
            <a:r>
              <a:t>98k kg</a:t>
            </a:r>
          </a:p>
          <a:p>
            <a:pPr algn="ctr">
              <a:defRPr sz="850">
                <a:solidFill>
                  <a:srgbClr val="1F2937"/>
                </a:solidFill>
              </a:defRPr>
            </a:pPr>
            <a:r>
              <a:t>sum of kg per route-month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514600"/>
            <a:ext cx="3931920" cy="2103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</a:defRPr>
            </a:pPr>
            <a:r>
              <a:t>Route-months are compared with each route's own median behavior.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</a:defRPr>
            </a:pPr>
            <a:r>
              <a:t>E1-to-E2 flags require E1 primary aircraft, seasonal load/frequency signal, and observed E2 kg/NM advantage.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</a:defRPr>
            </a:pPr>
            <a:r>
              <a:t>The metric is kg saved per route-month, separate from the equal-seat sweet-spot estimate.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Seasonal outputs are scheduling review targets, not automatic assignment instructions.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OPERATIONAL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Operational Implication: Treat the Output as a Ranked Validation List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43000"/>
          <a:ext cx="108356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7820"/>
                <a:gridCol w="5417820"/>
              </a:tblGrid>
              <a:tr h="448056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Operational meaning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Supported 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Prioritize E2 allocation where E1 and E2 overlap and the equal-seat fuel screen is positive.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Implementation use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Create a route and route-month review queue for schedule planning and fleet assignment teams.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What remains open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Tail rotations, crew currency, maintenance checks, gates, slots, payload restrictions, and economics.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Measurement plan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Track kg per flight and kg/NM before/after candidate reassignment against comparable control routes.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794760"/>
            <a:ext cx="987552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The analysis does not argue for broad replacement of E1 with E2; it prioritizes where the next available E2 is expected to produce the largest fuel benefit.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</a:defRPr>
            </a:pPr>
            <a:r>
              <a:t>Route-level evidence should be validated inside the actual rotations that operate each candidate segment.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output is decision support for Azul teams, not a standalone optimizer.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Recommended Implementation Path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Decision output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1. Validate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Review seven E2-for-E1 routes against rotations, airport compatibility, crew, and maintenance constraints.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Confirmed pilot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2. Pilot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Assign E2 capacity to validated corridors where schedule integrity and seat supply are preserved.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Measured fuel impact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3. Institutionalize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Run the seasonal route-month screen before schedule planning cycles.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Repeatable allocation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4. Expand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Add demand, fare, cost, and tail-level constraints to move from screening to optimization.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F2937"/>
                          </a:solidFill>
                        </a:defRPr>
                      </a:pPr>
                      <a:r>
                        <a:t>Constrained assignment model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434840"/>
            <a:ext cx="104241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1">
                <a:solidFill>
                  <a:srgbClr val="10233F"/>
                </a:solidFill>
              </a:defRPr>
            </a:pPr>
            <a:r>
              <a:t>Immediate recommendation: start with the seven E2-for-E1 candidate routes and validate feasibility before broadening the scope.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The next decision is not whether E2 is generally better; it is where E2 allocation should be prioritized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36576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50" b="1">
                <a:solidFill>
                  <a:srgbClr val="5F7287"/>
                </a:solidFill>
              </a:defRPr>
            </a:pPr>
            <a: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84632"/>
            <a:ext cx="109728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0233F"/>
                </a:solidFill>
              </a:defRPr>
            </a:pPr>
            <a:r>
              <a:t>Constraints and Next Steps for Azul Validation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09728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95300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Validation area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Next analytical step</a:t>
                      </a:r>
                    </a:p>
                  </a:txBody>
                  <a:tcPr>
                    <a:solidFill>
                      <a:srgbClr val="10233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Demand and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Replace seat proxy with real seats by tail/subfleet, bookings, load factor, spill, and revenue data.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Check tail rotations, crew availability, maintenance timing, turn times, and hub connectivity.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Airport feasibility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Validate gates, ramp handling, slots, runway limits, and payload restrictions station-by-station.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Economics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Convert gross fuel saving into net contribution with lease, maintenance reserve, crew, and delay costs.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Pilot measurement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>
                          <a:solidFill>
                            <a:srgbClr val="1F2937"/>
                          </a:solidFill>
                        </a:defRPr>
                      </a:pPr>
                      <a:r>
                        <a:t>Use before/after kg per flight and kg/NM tracking against comparable controls.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572000"/>
            <a:ext cx="102412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1">
                <a:solidFill>
                  <a:srgbClr val="10233F"/>
                </a:solidFill>
              </a:defRPr>
            </a:pPr>
            <a:r>
              <a:t>The central result is robust as a fuel-prioritization rule, but final implementation requires Azul-internal constraint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97880"/>
            <a:ext cx="11155680" cy="475488"/>
          </a:xfrm>
          <a:prstGeom prst="roundRect">
            <a:avLst/>
          </a:prstGeom>
          <a:solidFill>
            <a:srgbClr val="EAF3FC"/>
          </a:solidFill>
          <a:ln>
            <a:solidFill>
              <a:srgbClr val="D6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233F"/>
                </a:solidFill>
              </a:defRPr>
            </a:pPr>
            <a:r>
              <a:t>Next project phase: constrained implementation model seeded by the E2-for-E1 opportunities identified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109728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700" b="0">
                <a:solidFill>
                  <a:srgbClr val="5F7287"/>
                </a:solidFill>
              </a:defRPr>
            </a:pPr>
            <a:r>
              <a:t>Sources: Azul_DataSample.xlsx, Azul_Project_Data_2.xlsx, Main Fleet Analysis.ipynb, azul_seasonal_fleet_assignment_v2.py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