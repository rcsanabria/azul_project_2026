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66" r:id="rId7"/>
    <p:sldId id="267" r:id="rId8"/>
    <p:sldId id="265" r:id="rId9"/>
    <p:sldId id="261" r:id="rId10"/>
    <p:sldId id="268" r:id="rId11"/>
    <p:sldId id="269" r:id="rId12"/>
    <p:sldId id="262" r:id="rId13"/>
    <p:sldId id="264" r:id="rId14"/>
    <p:sldId id="270" r:id="rId15"/>
    <p:sldId id="263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86694E-59BD-4665-AD20-1950856A6027}" v="42" dt="2026-04-28T17:33:44.806"/>
    <p1510:client id="{A215295C-F1AB-B5EA-6844-20770750555E}" v="2" dt="2026-04-28T17:17:26.084"/>
    <p1510:client id="{B84C5717-ACCC-7EF4-9691-C989D1C23910}" v="75" dt="2026-04-28T16:32:11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53BFC-F6E9-49C9-8155-FABC2C0E9124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1B3FA-5BE7-4FDE-A9CC-80D4A2678C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45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52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/>
          <p:cNvSpPr/>
          <p:nvPr/>
        </p:nvSpPr>
        <p:spPr>
          <a:xfrm>
            <a:off x="6631715" y="1907706"/>
            <a:ext cx="1645920" cy="731520"/>
          </a:xfrm>
          <a:prstGeom prst="parallelogram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906035" y="2456346"/>
            <a:ext cx="1371600" cy="640080"/>
          </a:xfrm>
          <a:prstGeom prst="parallelogram">
            <a:avLst/>
          </a:prstGeom>
          <a:solidFill>
            <a:srgbClr val="3CA3B2"/>
          </a:solidFill>
          <a:ln>
            <a:solidFill>
              <a:srgbClr val="3CA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6585995" y="3187865"/>
            <a:ext cx="1508760" cy="685800"/>
          </a:xfrm>
          <a:prstGeom prst="parallelogram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7043195" y="3827946"/>
            <a:ext cx="1097280" cy="548640"/>
          </a:xfrm>
          <a:prstGeom prst="parallelogram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8778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25C"/>
                </a:solidFill>
                <a:latin typeface="Arial"/>
              </a:defRPr>
            </a:pPr>
            <a:r>
              <a:t>Azul Checkpoint #2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208" y="1176186"/>
            <a:ext cx="8138160" cy="45719"/>
          </a:xfrm>
          <a:prstGeom prst="rect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333D1EE2-DA73-1E54-B776-AF305BC04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035" y="239122"/>
            <a:ext cx="1661614" cy="93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C65508-6FFE-088A-8747-E410E771070D}"/>
              </a:ext>
            </a:extLst>
          </p:cNvPr>
          <p:cNvSpPr txBox="1"/>
          <p:nvPr/>
        </p:nvSpPr>
        <p:spPr>
          <a:xfrm>
            <a:off x="1049245" y="2612460"/>
            <a:ext cx="20334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Group 5</a:t>
            </a:r>
            <a:endParaRPr lang="pt-BR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0F2A5C"/>
                </a:solidFill>
                <a:latin typeface="Aptos"/>
              </a:rPr>
              <a:t>Contents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36745" y="1335024"/>
            <a:ext cx="566928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3049" y="1362456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9977" y="1389888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rPr dirty="0"/>
              <a:t>Checkpoint #1 Feedback</a:t>
            </a:r>
          </a:p>
        </p:txBody>
      </p:sp>
      <p:sp>
        <p:nvSpPr>
          <p:cNvPr id="41" name="Oval 40"/>
          <p:cNvSpPr/>
          <p:nvPr/>
        </p:nvSpPr>
        <p:spPr>
          <a:xfrm>
            <a:off x="4560105" y="1335024"/>
            <a:ext cx="566928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06409" y="1362456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3337" y="1389888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t>How we addressed the feedback</a:t>
            </a:r>
          </a:p>
        </p:txBody>
      </p:sp>
      <p:sp>
        <p:nvSpPr>
          <p:cNvPr id="44" name="Oval 43"/>
          <p:cNvSpPr/>
          <p:nvPr/>
        </p:nvSpPr>
        <p:spPr>
          <a:xfrm>
            <a:off x="536745" y="2441448"/>
            <a:ext cx="639129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3049" y="2489064"/>
            <a:ext cx="639129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9977" y="2496312"/>
            <a:ext cx="3504903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t>Research Questions</a:t>
            </a:r>
          </a:p>
        </p:txBody>
      </p:sp>
      <p:sp>
        <p:nvSpPr>
          <p:cNvPr id="47" name="Oval 46"/>
          <p:cNvSpPr/>
          <p:nvPr/>
        </p:nvSpPr>
        <p:spPr>
          <a:xfrm>
            <a:off x="4560105" y="2441448"/>
            <a:ext cx="639129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06409" y="2468880"/>
            <a:ext cx="639129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73337" y="2496312"/>
            <a:ext cx="3504903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t>What we have done since checkpoint #1</a:t>
            </a:r>
          </a:p>
        </p:txBody>
      </p:sp>
      <p:sp>
        <p:nvSpPr>
          <p:cNvPr id="50" name="Oval 49"/>
          <p:cNvSpPr/>
          <p:nvPr/>
        </p:nvSpPr>
        <p:spPr>
          <a:xfrm>
            <a:off x="536745" y="3474720"/>
            <a:ext cx="639129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3049" y="3515088"/>
            <a:ext cx="639129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49977" y="3529584"/>
            <a:ext cx="3504903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rPr dirty="0"/>
              <a:t>Current findings from the updated notebook</a:t>
            </a:r>
          </a:p>
        </p:txBody>
      </p:sp>
      <p:sp>
        <p:nvSpPr>
          <p:cNvPr id="53" name="Oval 52"/>
          <p:cNvSpPr/>
          <p:nvPr/>
        </p:nvSpPr>
        <p:spPr>
          <a:xfrm>
            <a:off x="4560105" y="3474720"/>
            <a:ext cx="639129" cy="566928"/>
          </a:xfrm>
          <a:prstGeom prst="ellipse">
            <a:avLst/>
          </a:prstGeom>
          <a:solidFill>
            <a:srgbClr val="0F2A5C"/>
          </a:solidFill>
          <a:ln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06409" y="3502151"/>
            <a:ext cx="639129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73337" y="3529584"/>
            <a:ext cx="3504903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E1E1E"/>
                </a:solidFill>
                <a:latin typeface="Aptos"/>
              </a:defRPr>
            </a:pPr>
            <a:r>
              <a:t>Next analyses and questions for Azul</a:t>
            </a:r>
          </a:p>
        </p:txBody>
      </p:sp>
      <p:pic>
        <p:nvPicPr>
          <p:cNvPr id="2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8A60F93F-56D1-76A3-5F29-E8BF6423E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0F2A5C"/>
                </a:solidFill>
                <a:latin typeface="Aptos"/>
              </a:rPr>
              <a:t>Checkpoint #1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1480" y="1097280"/>
            <a:ext cx="3977639" cy="3207419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1152144"/>
            <a:ext cx="1126142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rPr lang="en-US" dirty="0"/>
              <a:t>Problem 1</a:t>
            </a:r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4617720" y="1097280"/>
            <a:ext cx="3977639" cy="3207419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37176" y="1140768"/>
            <a:ext cx="1126142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rPr lang="en-US" dirty="0"/>
              <a:t>Problem 2</a:t>
            </a:r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40080" y="1481328"/>
            <a:ext cx="3566160" cy="26974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rPr lang="en-GB" dirty="0">
                <a:ea typeface="+mn-lt"/>
                <a:cs typeface="+mn-lt"/>
              </a:rPr>
              <a:t>The first presentation did not show enough of the filtering process.</a:t>
            </a:r>
            <a:endParaRPr lang="en-GB">
              <a:ea typeface="+mn-lt"/>
              <a:cs typeface="+mn-lt"/>
            </a:endParaRP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endParaRPr lang="en-GB" dirty="0">
              <a:ea typeface="+mn-lt"/>
              <a:cs typeface="+mn-lt"/>
            </a:endParaRP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rPr lang="en-GB" dirty="0">
                <a:ea typeface="+mn-lt"/>
                <a:cs typeface="+mn-lt"/>
              </a:rPr>
              <a:t>We also did not compare flights fairly enough inside similar operating conditions, especially around TOW.</a:t>
            </a: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endParaRPr lang="en-GB" dirty="0">
              <a:ea typeface="+mn-lt"/>
              <a:cs typeface="+mn-lt"/>
            </a:endParaRP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rPr lang="en-GB" dirty="0">
                <a:ea typeface="+mn-lt"/>
                <a:cs typeface="+mn-lt"/>
              </a:rPr>
              <a:t>As a result, it was hard to see whether the patterns reflected real operating behavior or sample noise.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846320" y="1481328"/>
            <a:ext cx="3566160" cy="26974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rPr dirty="0"/>
              <a:t>Fuel efficiency was still described too broadly and not in an operationally actionable way.</a:t>
            </a:r>
            <a:endParaRPr lang="en-GB" dirty="0"/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rPr dirty="0"/>
              <a:t>It was difficult to tell exactly what had been done since the first checkpoint and whether the analysis was moving toward implementable route-level decisions.</a:t>
            </a:r>
            <a:endParaRPr lang="en-GB" dirty="0"/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endParaRPr dirty="0"/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  <a:latin typeface="Aptos"/>
              </a:defRPr>
            </a:pPr>
            <a:r>
              <a:rPr dirty="0"/>
              <a:t>The recommendations still needed a clearer link between evidence, comparability, and action.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26280"/>
            <a:ext cx="8183879" cy="384048"/>
          </a:xfrm>
          <a:prstGeom prst="rect">
            <a:avLst/>
          </a:prstGeom>
          <a:solidFill>
            <a:srgbClr val="F8FBFF"/>
          </a:solidFill>
          <a:ln w="16510">
            <a:solidFill>
              <a:srgbClr val="0F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8F5FA4-91DC-A26A-3B52-6F9C61735394}"/>
              </a:ext>
            </a:extLst>
          </p:cNvPr>
          <p:cNvSpPr txBox="1"/>
          <p:nvPr/>
        </p:nvSpPr>
        <p:spPr>
          <a:xfrm>
            <a:off x="393192" y="4478435"/>
            <a:ext cx="8183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2060"/>
                </a:solidFill>
              </a:rPr>
              <a:t>Response: make the filters visible, compare aircraft only in overlap conditions, and move from broad fuel commentary to seat-adjusted route-level evidence.</a:t>
            </a:r>
            <a:endParaRPr lang="pt-BR" sz="1200" dirty="0">
              <a:solidFill>
                <a:srgbClr val="002060"/>
              </a:solidFill>
            </a:endParaRPr>
          </a:p>
        </p:txBody>
      </p:sp>
      <p:pic>
        <p:nvPicPr>
          <p:cNvPr id="3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0EC871D4-9433-875E-0A81-E231C0517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5C"/>
                </a:solidFill>
                <a:latin typeface="Aptos"/>
              </a:rPr>
              <a:t>How we addressed the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1143000"/>
            <a:ext cx="3840480" cy="1257300"/>
          </a:xfrm>
          <a:prstGeom prst="roundRect">
            <a:avLst/>
          </a:prstGeom>
          <a:solidFill>
            <a:srgbClr val="ECF4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1197864"/>
            <a:ext cx="3621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1. Show filter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527048"/>
            <a:ext cx="3566160" cy="7863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1E1E1E"/>
                </a:solidFill>
                <a:latin typeface="Aptos"/>
              </a:defRPr>
            </a:pPr>
            <a:r>
              <a:t>Added aircraft-level filtering counts and before-vs-after logic so the audience can see how much data is retained and why.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1143000"/>
            <a:ext cx="3840480" cy="1257300"/>
          </a:xfrm>
          <a:prstGeom prst="roundRect">
            <a:avLst/>
          </a:prstGeom>
          <a:solidFill>
            <a:srgbClr val="ECF4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27448" y="1197864"/>
            <a:ext cx="3621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2. Make fair comparisons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527048"/>
            <a:ext cx="3566160" cy="7863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1E1E1E"/>
                </a:solidFill>
                <a:latin typeface="Aptos"/>
              </a:defRPr>
            </a:pPr>
            <a:r>
              <a:t>Compared aircraft only inside overlapping TOW conditions, especially E1 vs E2 and A320 vs A321, instead of relying on broad cross-fleet visuals.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743200"/>
            <a:ext cx="3840480" cy="1170432"/>
          </a:xfrm>
          <a:prstGeom prst="roundRect">
            <a:avLst/>
          </a:prstGeom>
          <a:solidFill>
            <a:srgbClr val="ECF4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2798064"/>
            <a:ext cx="3621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3. Define operating windows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127248"/>
            <a:ext cx="3566160" cy="7863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1E1E1E"/>
                </a:solidFill>
                <a:latin typeface="Aptos"/>
              </a:defRPr>
            </a:pPr>
            <a:r>
              <a:rPr dirty="0"/>
              <a:t>Introduced </a:t>
            </a:r>
            <a:r>
              <a:rPr dirty="0" err="1"/>
              <a:t>sweetspot</a:t>
            </a:r>
            <a:r>
              <a:rPr dirty="0"/>
              <a:t> ranges based on the best-performing 50% of flights per aircraft to make optimal operating conditions measurable.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2743200"/>
            <a:ext cx="3840480" cy="1170432"/>
          </a:xfrm>
          <a:prstGeom prst="roundRect">
            <a:avLst/>
          </a:prstGeom>
          <a:solidFill>
            <a:srgbClr val="ECF4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27448" y="2798064"/>
            <a:ext cx="3621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4. Move toward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127248"/>
            <a:ext cx="3566160" cy="7863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1E1E1E"/>
                </a:solidFill>
                <a:latin typeface="Aptos"/>
              </a:defRPr>
            </a:pPr>
            <a:r>
              <a:t>Added route-overlap and seat-adjusted screening so swap ideas are evaluated on both fuel and approximate capacity fit.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51960"/>
            <a:ext cx="8001000" cy="502920"/>
          </a:xfrm>
          <a:prstGeom prst="rect">
            <a:avLst/>
          </a:prstGeom>
          <a:solidFill>
            <a:srgbClr val="F8FB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977673-1207-74CD-974B-B13758036B7A}"/>
              </a:ext>
            </a:extLst>
          </p:cNvPr>
          <p:cNvSpPr txBox="1"/>
          <p:nvPr/>
        </p:nvSpPr>
        <p:spPr>
          <a:xfrm>
            <a:off x="457200" y="4251960"/>
            <a:ext cx="7891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2060"/>
                </a:solidFill>
              </a:rPr>
              <a:t>The story is now: clean the data → compare aircraft under similar conditions → define </a:t>
            </a:r>
            <a:r>
              <a:rPr lang="en-GB" sz="1400" dirty="0" err="1">
                <a:solidFill>
                  <a:srgbClr val="002060"/>
                </a:solidFill>
              </a:rPr>
              <a:t>sweetspots</a:t>
            </a:r>
            <a:r>
              <a:rPr lang="en-GB" sz="1400" dirty="0">
                <a:solidFill>
                  <a:srgbClr val="002060"/>
                </a:solidFill>
              </a:rPr>
              <a:t> → test route-level substitution after capacity screening</a:t>
            </a:r>
            <a:endParaRPr lang="pt-BR" sz="1400" dirty="0">
              <a:solidFill>
                <a:srgbClr val="002060"/>
              </a:solidFill>
            </a:endParaRPr>
          </a:p>
        </p:txBody>
      </p:sp>
      <p:pic>
        <p:nvPicPr>
          <p:cNvPr id="3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7EBA3838-2A3B-6160-8569-B359A06BB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9" y="257556"/>
            <a:ext cx="360045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sz="2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r>
              <a:rPr lang="en-US" sz="22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Questions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329185" y="822960"/>
            <a:ext cx="8524494" cy="1014984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0B4D89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22" name="Text 20"/>
          <p:cNvSpPr/>
          <p:nvPr/>
        </p:nvSpPr>
        <p:spPr>
          <a:xfrm>
            <a:off x="555499" y="939546"/>
            <a:ext cx="521208" cy="521208"/>
          </a:xfrm>
          <a:prstGeom prst="ellipse">
            <a:avLst/>
          </a:prstGeom>
          <a:solidFill>
            <a:srgbClr val="002060"/>
          </a:solidFill>
          <a:ln>
            <a:solidFill>
              <a:srgbClr val="002060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algn="ctr"/>
            <a:r>
              <a:rPr lang="en-US" sz="3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241299" y="966978"/>
            <a:ext cx="2880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5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research question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41299" y="1241298"/>
            <a:ext cx="740664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How can Azul identify implementable aircraft reassignment strategies across route groups with</a:t>
            </a:r>
            <a:endParaRPr lang="en-US" sz="1250">
              <a:latin typeface="Arial"/>
              <a:cs typeface="Arial"/>
            </a:endParaRPr>
          </a:p>
          <a:p>
            <a:r>
              <a:rPr lang="en-US" sz="125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overlapping operational sweet spots in order to improve operational efficiency without assuming</a:t>
            </a:r>
            <a:endParaRPr lang="en-US" sz="1250">
              <a:latin typeface="Arial"/>
              <a:cs typeface="Arial"/>
            </a:endParaRPr>
          </a:p>
          <a:p>
            <a:r>
              <a:rPr lang="en-US" sz="1298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fleet replacement?</a:t>
            </a:r>
            <a:endParaRPr lang="en-US" sz="1298" dirty="0"/>
          </a:p>
        </p:txBody>
      </p:sp>
      <p:sp>
        <p:nvSpPr>
          <p:cNvPr id="25" name="Shape 23"/>
          <p:cNvSpPr/>
          <p:nvPr/>
        </p:nvSpPr>
        <p:spPr>
          <a:xfrm>
            <a:off x="308610" y="1975104"/>
            <a:ext cx="4608576" cy="2914650"/>
          </a:xfrm>
          <a:prstGeom prst="round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26" name="Text 24"/>
          <p:cNvSpPr/>
          <p:nvPr/>
        </p:nvSpPr>
        <p:spPr>
          <a:xfrm>
            <a:off x="390906" y="2064258"/>
            <a:ext cx="507492" cy="462846"/>
          </a:xfrm>
          <a:prstGeom prst="ellipse">
            <a:avLst/>
          </a:prstGeom>
          <a:solidFill>
            <a:srgbClr val="002060"/>
          </a:solidFill>
          <a:ln>
            <a:solidFill>
              <a:srgbClr val="002060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946404" y="2146554"/>
            <a:ext cx="18859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63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Subquestions</a:t>
            </a:r>
            <a:endParaRPr lang="en-US" sz="1463" dirty="0"/>
          </a:p>
        </p:txBody>
      </p:sp>
      <p:sp>
        <p:nvSpPr>
          <p:cNvPr id="28" name="Text 26"/>
          <p:cNvSpPr/>
          <p:nvPr/>
        </p:nvSpPr>
        <p:spPr>
          <a:xfrm>
            <a:off x="884682" y="2414016"/>
            <a:ext cx="1783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960" b="1" dirty="0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1110996" y="2414016"/>
            <a:ext cx="35318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city pairs or route groups exhibit overlapping operational</a:t>
            </a:r>
            <a:endParaRPr lang="en-US" sz="795" dirty="0"/>
          </a:p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sweetspots between aircraft types, making reassignment</a:t>
            </a:r>
            <a:endParaRPr lang="en-US" sz="795" dirty="0"/>
          </a:p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operationally plausible?</a:t>
            </a:r>
            <a:endParaRPr lang="en-US" sz="795" dirty="0"/>
          </a:p>
        </p:txBody>
      </p:sp>
      <p:sp>
        <p:nvSpPr>
          <p:cNvPr id="30" name="Text 28"/>
          <p:cNvSpPr/>
          <p:nvPr/>
        </p:nvSpPr>
        <p:spPr>
          <a:xfrm>
            <a:off x="884682" y="2921508"/>
            <a:ext cx="1783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960" b="1" dirty="0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1110996" y="2921508"/>
            <a:ext cx="35318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what extent do demand fluctuations across routes or seasons</a:t>
            </a:r>
            <a:endParaRPr lang="en-US" sz="795" dirty="0"/>
          </a:p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the reassignment of aircraft types within these overlapping</a:t>
            </a:r>
            <a:endParaRPr lang="en-US" sz="795" dirty="0"/>
          </a:p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sweetspots?</a:t>
            </a:r>
            <a:endParaRPr lang="en-US" sz="795" dirty="0"/>
          </a:p>
        </p:txBody>
      </p:sp>
      <p:sp>
        <p:nvSpPr>
          <p:cNvPr id="32" name="Text 30"/>
          <p:cNvSpPr/>
          <p:nvPr/>
        </p:nvSpPr>
        <p:spPr>
          <a:xfrm>
            <a:off x="884682" y="3429000"/>
            <a:ext cx="1783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960" b="1" dirty="0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1110996" y="3429000"/>
            <a:ext cx="3531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airport infrastructure and operational constraints limit the</a:t>
            </a:r>
            <a:endParaRPr lang="en-US" sz="795" dirty="0"/>
          </a:p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of using larger or alternative aircraft types on specific routes?</a:t>
            </a:r>
            <a:endParaRPr lang="en-US" sz="795" dirty="0"/>
          </a:p>
        </p:txBody>
      </p:sp>
      <p:sp>
        <p:nvSpPr>
          <p:cNvPr id="34" name="Text 32"/>
          <p:cNvSpPr/>
          <p:nvPr/>
        </p:nvSpPr>
        <p:spPr>
          <a:xfrm>
            <a:off x="884682" y="3854196"/>
            <a:ext cx="1783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960" b="1" dirty="0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1110996" y="3854196"/>
            <a:ext cx="35318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potential benefit could these reassignment strategies</a:t>
            </a:r>
            <a:endParaRPr lang="en-US" sz="795" dirty="0"/>
          </a:p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for the airline, based on the operational metrics available</a:t>
            </a:r>
            <a:endParaRPr lang="en-US" sz="795" dirty="0"/>
          </a:p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dataset?</a:t>
            </a:r>
            <a:endParaRPr lang="en-US" sz="795" dirty="0"/>
          </a:p>
        </p:txBody>
      </p:sp>
      <p:sp>
        <p:nvSpPr>
          <p:cNvPr id="36" name="Text 34"/>
          <p:cNvSpPr/>
          <p:nvPr/>
        </p:nvSpPr>
        <p:spPr>
          <a:xfrm>
            <a:off x="884682" y="4306824"/>
            <a:ext cx="1783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960" b="1" dirty="0">
                <a:solidFill>
                  <a:srgbClr val="0B4D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1110996" y="4306824"/>
            <a:ext cx="35318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sensitive are the identified reassignment opportunities to the</a:t>
            </a:r>
            <a:endParaRPr lang="en-US" sz="795" dirty="0"/>
          </a:p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assumptions used, particularly seat-based swapability,</a:t>
            </a:r>
            <a:endParaRPr lang="en-US" sz="795" dirty="0"/>
          </a:p>
          <a:p>
            <a:r>
              <a:rPr lang="en-US" sz="79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sweetspot thresholds, and sample size?</a:t>
            </a:r>
            <a:endParaRPr lang="en-US" sz="795" dirty="0"/>
          </a:p>
        </p:txBody>
      </p:sp>
      <p:sp>
        <p:nvSpPr>
          <p:cNvPr id="38" name="Shape 36"/>
          <p:cNvSpPr/>
          <p:nvPr/>
        </p:nvSpPr>
        <p:spPr>
          <a:xfrm>
            <a:off x="5061204" y="1975104"/>
            <a:ext cx="3771900" cy="2914650"/>
          </a:xfrm>
          <a:prstGeom prst="round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B4D89"/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39" name="Text 37"/>
          <p:cNvSpPr/>
          <p:nvPr/>
        </p:nvSpPr>
        <p:spPr>
          <a:xfrm>
            <a:off x="5170932" y="2064258"/>
            <a:ext cx="466344" cy="466344"/>
          </a:xfrm>
          <a:prstGeom prst="ellipse">
            <a:avLst/>
          </a:prstGeom>
          <a:solidFill>
            <a:srgbClr val="002060"/>
          </a:solidFill>
          <a:ln>
            <a:solidFill>
              <a:srgbClr val="002060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</a:t>
            </a:r>
            <a:endParaRPr lang="en-US" sz="2325" dirty="0"/>
          </a:p>
        </p:txBody>
      </p:sp>
      <p:sp>
        <p:nvSpPr>
          <p:cNvPr id="40" name="Text 38"/>
          <p:cNvSpPr/>
          <p:nvPr/>
        </p:nvSpPr>
        <p:spPr>
          <a:xfrm>
            <a:off x="5747004" y="2112264"/>
            <a:ext cx="277749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1388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based on methodology,</a:t>
            </a:r>
            <a:endParaRPr lang="en-US" sz="1388" dirty="0"/>
          </a:p>
          <a:p>
            <a:r>
              <a:rPr lang="en-US" sz="1388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or limitations</a:t>
            </a:r>
            <a:endParaRPr lang="en-US" sz="1388" dirty="0"/>
          </a:p>
        </p:txBody>
      </p:sp>
      <p:sp>
        <p:nvSpPr>
          <p:cNvPr id="41" name="Shape 39"/>
          <p:cNvSpPr/>
          <p:nvPr/>
        </p:nvSpPr>
        <p:spPr>
          <a:xfrm>
            <a:off x="5506974" y="2760345"/>
            <a:ext cx="54864" cy="54864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42" name="Text 40"/>
          <p:cNvSpPr/>
          <p:nvPr/>
        </p:nvSpPr>
        <p:spPr>
          <a:xfrm>
            <a:off x="5678424" y="2654046"/>
            <a:ext cx="29489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9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payload composition may explain part of the</a:t>
            </a:r>
            <a:endParaRPr lang="en-US" sz="893" dirty="0"/>
          </a:p>
          <a:p>
            <a:r>
              <a:rPr lang="en-US" sz="89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differences between aircraft types.</a:t>
            </a:r>
            <a:endParaRPr lang="en-US" sz="893" dirty="0"/>
          </a:p>
        </p:txBody>
      </p:sp>
      <p:sp>
        <p:nvSpPr>
          <p:cNvPr id="43" name="Shape 41"/>
          <p:cNvSpPr/>
          <p:nvPr/>
        </p:nvSpPr>
        <p:spPr>
          <a:xfrm>
            <a:off x="5506974" y="3274695"/>
            <a:ext cx="54864" cy="54864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44" name="Text 42"/>
          <p:cNvSpPr/>
          <p:nvPr/>
        </p:nvSpPr>
        <p:spPr>
          <a:xfrm>
            <a:off x="5678424" y="3168396"/>
            <a:ext cx="29489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9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selected variables are appropriate for</a:t>
            </a:r>
            <a:endParaRPr lang="en-US" sz="893" dirty="0"/>
          </a:p>
          <a:p>
            <a:r>
              <a:rPr lang="en-US" sz="89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operational fit.</a:t>
            </a:r>
            <a:endParaRPr lang="en-US" sz="893" dirty="0"/>
          </a:p>
        </p:txBody>
      </p:sp>
      <p:sp>
        <p:nvSpPr>
          <p:cNvPr id="45" name="Shape 43"/>
          <p:cNvSpPr/>
          <p:nvPr/>
        </p:nvSpPr>
        <p:spPr>
          <a:xfrm>
            <a:off x="5506974" y="3802761"/>
            <a:ext cx="54864" cy="54864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46" name="Text 44"/>
          <p:cNvSpPr/>
          <p:nvPr/>
        </p:nvSpPr>
        <p:spPr>
          <a:xfrm>
            <a:off x="5678424" y="3696462"/>
            <a:ext cx="29489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9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analysis contains blind spots or biases.</a:t>
            </a:r>
            <a:endParaRPr lang="en-US" sz="893" dirty="0"/>
          </a:p>
        </p:txBody>
      </p:sp>
      <p:sp>
        <p:nvSpPr>
          <p:cNvPr id="47" name="Shape 45"/>
          <p:cNvSpPr/>
          <p:nvPr/>
        </p:nvSpPr>
        <p:spPr>
          <a:xfrm>
            <a:off x="5506974" y="4166235"/>
            <a:ext cx="54864" cy="54864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48" name="Text 46"/>
          <p:cNvSpPr/>
          <p:nvPr/>
        </p:nvSpPr>
        <p:spPr>
          <a:xfrm>
            <a:off x="5678424" y="4059936"/>
            <a:ext cx="29489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9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seat count is an adequate proxy for swapability.</a:t>
            </a:r>
            <a:endParaRPr lang="en-US" sz="893" dirty="0"/>
          </a:p>
        </p:txBody>
      </p:sp>
      <p:sp>
        <p:nvSpPr>
          <p:cNvPr id="49" name="Shape 47"/>
          <p:cNvSpPr/>
          <p:nvPr/>
        </p:nvSpPr>
        <p:spPr>
          <a:xfrm>
            <a:off x="5506974" y="4550283"/>
            <a:ext cx="54864" cy="54864"/>
          </a:xfrm>
          <a:prstGeom prst="ellipse">
            <a:avLst/>
          </a:prstGeom>
          <a:solidFill>
            <a:srgbClr val="0B4D89"/>
          </a:solidFill>
          <a:ln w="12700">
            <a:solidFill>
              <a:srgbClr val="0B4D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350"/>
          </a:p>
        </p:txBody>
      </p:sp>
      <p:sp>
        <p:nvSpPr>
          <p:cNvPr id="50" name="Text 48"/>
          <p:cNvSpPr/>
          <p:nvPr/>
        </p:nvSpPr>
        <p:spPr>
          <a:xfrm>
            <a:off x="5678424" y="4443984"/>
            <a:ext cx="29489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9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joint sweetspot sample is large enough to</a:t>
            </a:r>
            <a:endParaRPr lang="en-US" sz="893" dirty="0"/>
          </a:p>
          <a:p>
            <a:r>
              <a:rPr lang="en-US" sz="89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meaningful conclusions.</a:t>
            </a:r>
            <a:endParaRPr lang="en-US" sz="893" dirty="0"/>
          </a:p>
        </p:txBody>
      </p:sp>
      <p:pic>
        <p:nvPicPr>
          <p:cNvPr id="5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1832A955-E31B-2D53-A58C-4FE73C412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60ABD9-2F78-FB4B-DA97-2A5C72B13344}"/>
              </a:ext>
            </a:extLst>
          </p:cNvPr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5C"/>
                </a:solidFill>
                <a:latin typeface="Aptos"/>
              </a:rPr>
              <a:t>What we have done since checkpoint #1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960120"/>
            <a:ext cx="3977639" cy="2468880"/>
          </a:xfrm>
          <a:prstGeom prst="rect">
            <a:avLst/>
          </a:prstGeom>
          <a:solidFill>
            <a:srgbClr val="FFFF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0" y="960120"/>
            <a:ext cx="4233672" cy="2468880"/>
          </a:xfrm>
          <a:prstGeom prst="rect">
            <a:avLst/>
          </a:prstGeom>
          <a:solidFill>
            <a:srgbClr val="FFFF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filtering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982627"/>
            <a:ext cx="3810000" cy="2286000"/>
          </a:xfrm>
          <a:prstGeom prst="rect">
            <a:avLst/>
          </a:prstGeom>
        </p:spPr>
      </p:pic>
      <p:pic>
        <p:nvPicPr>
          <p:cNvPr id="40" name="Picture 39" descr="tow_normaliz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34" y="1276982"/>
            <a:ext cx="4178776" cy="188044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84122" y="3246120"/>
            <a:ext cx="38862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rPr dirty="0"/>
              <a:t>Aircraft-level filter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4134" y="3262252"/>
            <a:ext cx="38862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rPr dirty="0"/>
              <a:t>TOW-normalized comparison inside overlap bands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9852" y="3790188"/>
            <a:ext cx="8465820" cy="1051560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6908" y="3801618"/>
            <a:ext cx="796442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rPr dirty="0"/>
              <a:t>What these additions changed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B5BDB2-7FEB-B9B2-99C6-ECA45D19E00F}"/>
              </a:ext>
            </a:extLst>
          </p:cNvPr>
          <p:cNvSpPr txBox="1"/>
          <p:nvPr/>
        </p:nvSpPr>
        <p:spPr>
          <a:xfrm>
            <a:off x="384122" y="4119372"/>
            <a:ext cx="8420025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50" dirty="0"/>
              <a:t>The IQR filter retains most of the sample while removing noisier tails, especially in E1, E2, and A321.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50" dirty="0"/>
              <a:t>Inside shared TOW conditions, E2 is clearly more efficient than E1, which gives us a fairer within-family benchmark.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50" dirty="0"/>
              <a:t>Inside the Airbus overlap, A320 and A321 look much closer, so any swap claim must pass a capacity screen and not rely on fuel-only evidence.</a:t>
            </a:r>
            <a:endParaRPr lang="pt-BR" sz="1050" dirty="0"/>
          </a:p>
        </p:txBody>
      </p:sp>
      <p:pic>
        <p:nvPicPr>
          <p:cNvPr id="3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F93D3006-5E19-DFD0-C476-909728ECF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5C"/>
                </a:solidFill>
                <a:latin typeface="Aptos"/>
              </a:rPr>
              <a:t>Current findings from the updated notebook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914400"/>
            <a:ext cx="3977639" cy="2377440"/>
          </a:xfrm>
          <a:prstGeom prst="rect">
            <a:avLst/>
          </a:prstGeom>
          <a:solidFill>
            <a:srgbClr val="FFFF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914400"/>
            <a:ext cx="3977639" cy="2377440"/>
          </a:xfrm>
          <a:prstGeom prst="rect">
            <a:avLst/>
          </a:prstGeom>
          <a:solidFill>
            <a:srgbClr val="FFFF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weetspot_r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960120"/>
            <a:ext cx="3657600" cy="2194560"/>
          </a:xfrm>
          <a:prstGeom prst="rect">
            <a:avLst/>
          </a:prstGeom>
        </p:spPr>
      </p:pic>
      <p:pic>
        <p:nvPicPr>
          <p:cNvPr id="31" name="Picture 30" descr="capacity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960120"/>
            <a:ext cx="3657600" cy="2194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" y="3154680"/>
            <a:ext cx="3886200" cy="164592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t>Observed sweetspot ranges by aircraft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154680"/>
            <a:ext cx="3886200" cy="164592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A5A5A"/>
                </a:solidFill>
                <a:latin typeface="Aptos"/>
              </a:defRPr>
            </a:pPr>
            <a:r>
              <a:t>Seat-adjusted substitution screen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493008"/>
            <a:ext cx="8183879" cy="1170432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3493008"/>
            <a:ext cx="796442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rPr dirty="0"/>
              <a:t>What the current evidence suggests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25875-A9B1-718F-3B26-5103F8954119}"/>
              </a:ext>
            </a:extLst>
          </p:cNvPr>
          <p:cNvSpPr txBox="1"/>
          <p:nvPr/>
        </p:nvSpPr>
        <p:spPr>
          <a:xfrm>
            <a:off x="362229" y="3747361"/>
            <a:ext cx="818387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00" dirty="0"/>
              <a:t>Observed </a:t>
            </a:r>
            <a:r>
              <a:rPr lang="en-GB" sz="1000" dirty="0" err="1"/>
              <a:t>sweetspots</a:t>
            </a:r>
            <a:r>
              <a:rPr lang="en-GB" sz="1000" dirty="0"/>
              <a:t> separate aircraft naturally by stage length: ATR 221–321 NM, E1 308–482, E2 442–841, A320 889–1,188, and A321 1,156–1,199.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00" dirty="0"/>
              <a:t>Fuel-only overlap routes suggest three possible swap directions: A320 replacing A321, ATR replacing E1, and E2 replacing E1.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  <a:latin typeface="Aptos"/>
              </a:defRPr>
            </a:pPr>
            <a:r>
              <a:rPr lang="en-GB" sz="1000" dirty="0"/>
              <a:t>After matching approximate seat supply, only E2 replacing E1 remains viable across all 7 candidate routes, with about 480 thousand kg of potential savings in the observed overlap sample.</a:t>
            </a:r>
          </a:p>
          <a:p>
            <a:endParaRPr lang="pt-BR" dirty="0"/>
          </a:p>
        </p:txBody>
      </p:sp>
      <p:pic>
        <p:nvPicPr>
          <p:cNvPr id="3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B7F3C03C-1512-5548-E21E-33CD31304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32004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0F2A5C"/>
                </a:solidFill>
                <a:latin typeface="Aptos"/>
              </a:rPr>
              <a:t>Next analyses and questions for Azul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1480" y="914400"/>
            <a:ext cx="3840480" cy="2240280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" y="969264"/>
            <a:ext cx="3621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What we are doing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261872"/>
            <a:ext cx="3383280" cy="1554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Route-group trade studies inside overlapping sweetspots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Seasonality by city pair, route type, and stage-length band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Airport and operating-constraint checks for feasible reassignment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Theoretical fuel model and scenario-based savings estimation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914400"/>
            <a:ext cx="3977639" cy="2240280"/>
          </a:xfrm>
          <a:prstGeom prst="roundRect">
            <a:avLst/>
          </a:prstGeom>
          <a:solidFill>
            <a:srgbClr val="F5F8FC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81728" y="969264"/>
            <a:ext cx="375818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Questions and data that would help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261872"/>
            <a:ext cx="3474720" cy="16002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Are route additions, removals, or major seasonal shifts already planned?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Which routes already operate with more than one aircraft type in practice?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Are there airport, payload, or scheduling constraints that would block reassignment?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  <a:latin typeface="Aptos"/>
              </a:defRPr>
            </a:pPr>
            <a:r>
              <a:t>If available: demand/load factor, payload mix, and direct operating cost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456432"/>
            <a:ext cx="8138160" cy="1304544"/>
          </a:xfrm>
          <a:prstGeom prst="rect">
            <a:avLst/>
          </a:prstGeom>
          <a:solidFill>
            <a:srgbClr val="F8FBFF"/>
          </a:solidFill>
          <a:ln w="1651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8" y="3511296"/>
            <a:ext cx="79187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Team ownership by current workstream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96849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A5C"/>
                </a:solidFill>
                <a:latin typeface="Aptos"/>
              </a:defRPr>
            </a:pPr>
            <a:r>
              <a:t>Burak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16966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1E1E1E"/>
                </a:solidFill>
                <a:latin typeface="Aptos"/>
              </a:defRPr>
            </a:pPr>
            <a:r>
              <a:t>data cleaning, sweetspots, overlap definitions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608" y="396849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A5C"/>
                </a:solidFill>
                <a:latin typeface="Aptos"/>
              </a:defRPr>
            </a:pPr>
            <a:r>
              <a:t>Robert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78608" y="416966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1E1E1E"/>
                </a:solidFill>
                <a:latin typeface="Aptos"/>
              </a:defRPr>
            </a:pPr>
            <a:r>
              <a:t>comparative visuals, route groups, storyline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96849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A5C"/>
                </a:solidFill>
                <a:latin typeface="Aptos"/>
              </a:defRPr>
            </a:pPr>
            <a:r>
              <a:t>Alexandre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16966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1E1E1E"/>
                </a:solidFill>
                <a:latin typeface="Aptos"/>
              </a:defRPr>
            </a:pPr>
            <a:r>
              <a:t>constraints, synthesis, Azul-facing recommendations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396849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A5C"/>
                </a:solidFill>
                <a:latin typeface="Aptos"/>
              </a:defRPr>
            </a:pPr>
            <a:r>
              <a:t>Eduardo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416966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1E1E1E"/>
                </a:solidFill>
                <a:latin typeface="Aptos"/>
              </a:defRPr>
            </a:pPr>
            <a:r>
              <a:rPr dirty="0"/>
              <a:t>capacity screen, theoretical model, savings scenarios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914400"/>
            <a:ext cx="3840480" cy="2240280"/>
          </a:xfrm>
          <a:prstGeom prst="roundRect">
            <a:avLst/>
          </a:prstGeom>
          <a:solidFill>
            <a:srgbClr val="ECF4FC"/>
          </a:solidFill>
          <a:ln w="1524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72000" y="914400"/>
            <a:ext cx="3977639" cy="2240280"/>
          </a:xfrm>
          <a:prstGeom prst="roundRect">
            <a:avLst/>
          </a:prstGeom>
          <a:solidFill>
            <a:srgbClr val="ECF4FC"/>
          </a:solidFill>
          <a:ln w="1524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1078992"/>
            <a:ext cx="338328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800" b="1">
                <a:solidFill>
                  <a:srgbClr val="0F2A5C"/>
                </a:solidFill>
                <a:latin typeface="Aptos"/>
              </a:defRPr>
            </a:pPr>
            <a:r>
              <a:t>What we are doing now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1078992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0F2A5C"/>
                </a:solidFill>
                <a:latin typeface="Aptos"/>
              </a:defRPr>
            </a:pPr>
            <a:r>
              <a:t>Questions and data that would help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1417320"/>
            <a:ext cx="3246120" cy="1463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400" b="0">
                <a:solidFill>
                  <a:srgbClr val="1E1E1E"/>
                </a:solidFill>
                <a:latin typeface="Aptos"/>
              </a:defRPr>
            </a:pPr>
            <a:r>
              <a:t>• Route-group trade studies inside overlapping sweetspots</a:t>
            </a:r>
            <a:br/>
            <a:r>
              <a:t>• Seasonality by city pair, route type, and stage-length band</a:t>
            </a:r>
            <a:br/>
            <a:r>
              <a:t>• Airport and operating-constraint checks for feasible reassignment</a:t>
            </a:r>
            <a:br/>
            <a:r>
              <a:t>• Theoretical fuel model and scenario-based savings estimation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40" y="1417320"/>
            <a:ext cx="3337560" cy="15544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300" b="0">
                <a:solidFill>
                  <a:srgbClr val="1E1E1E"/>
                </a:solidFill>
                <a:latin typeface="Aptos"/>
              </a:defRPr>
            </a:pPr>
            <a:r>
              <a:t>• Are route additions, removals, or major seasonal shifts already planned?</a:t>
            </a:r>
            <a:br/>
            <a:r>
              <a:t>• Which routes already operate with more than one aircraft type in practice?</a:t>
            </a:r>
            <a:br/>
            <a:r>
              <a:t>• Are there airport, payload, or scheduling constraints that would block reassignment?</a:t>
            </a:r>
            <a:br/>
            <a:r>
              <a:t>• If available: demand/load factor, payload mix, and direct operating cost data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0" y="914400"/>
            <a:ext cx="3977639" cy="2240280"/>
          </a:xfrm>
          <a:prstGeom prst="roundRect">
            <a:avLst/>
          </a:prstGeom>
          <a:solidFill>
            <a:srgbClr val="ECF4FC"/>
          </a:solidFill>
          <a:ln w="15240">
            <a:solidFill>
              <a:srgbClr val="235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73168" y="1078992"/>
            <a:ext cx="36118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0F2A5C"/>
                </a:solidFill>
                <a:latin typeface="Aptos"/>
              </a:defRPr>
            </a:pPr>
            <a:r>
              <a:t>Questions and data that would help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1444752"/>
            <a:ext cx="3337560" cy="148132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300" b="0">
                <a:solidFill>
                  <a:srgbClr val="1E1E1E"/>
                </a:solidFill>
                <a:latin typeface="Aptos"/>
              </a:defRPr>
            </a:pPr>
            <a:r>
              <a:t>• Are route additions, removals, or major seasonal shifts already planned?</a:t>
            </a:r>
            <a:br/>
            <a:r>
              <a:t>• Which routes already operate with more than one aircraft type in practice?</a:t>
            </a:r>
            <a:br/>
            <a:r>
              <a:t>• Are there airport, payload, or scheduling constraints that would block reassignment?</a:t>
            </a:r>
            <a:br/>
            <a:r>
              <a:t>• If available: demand/load factor, payload mix, and direct operating cost data</a:t>
            </a:r>
          </a:p>
        </p:txBody>
      </p:sp>
      <p:pic>
        <p:nvPicPr>
          <p:cNvPr id="2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8B0D0E08-6CBA-5BA8-A8D5-B5F863C68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433" y="143913"/>
            <a:ext cx="545053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5C"/>
                </a:solidFill>
                <a:latin typeface="Arial"/>
              </a:defRPr>
            </a:pPr>
            <a:r>
              <a:rPr sz="2600" dirty="0"/>
              <a:t>RACI matrix project management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28016" y="869143"/>
          <a:ext cx="8897113" cy="4074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8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493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0C2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Burak</a:t>
                      </a:r>
                    </a:p>
                  </a:txBody>
                  <a:tcPr>
                    <a:solidFill>
                      <a:srgbClr val="0C2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Robert</a:t>
                      </a:r>
                    </a:p>
                  </a:txBody>
                  <a:tcPr>
                    <a:solidFill>
                      <a:srgbClr val="0C2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Alexandre</a:t>
                      </a:r>
                    </a:p>
                  </a:txBody>
                  <a:tcPr>
                    <a:solidFill>
                      <a:srgbClr val="0C2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Eduardo</a:t>
                      </a:r>
                    </a:p>
                  </a:txBody>
                  <a:tcPr>
                    <a:solidFill>
                      <a:srgbClr val="0C2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932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52B"/>
                          </a:solidFill>
                          <a:latin typeface="Arial"/>
                        </a:defRPr>
                      </a:pPr>
                      <a:r>
                        <a:t>Data foundation and 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C225C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5A5A5F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EF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932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52B"/>
                          </a:solidFill>
                          <a:latin typeface="Arial"/>
                        </a:defRPr>
                      </a:pPr>
                      <a:r>
                        <a:t>Checkpoint #1 refinement and visualization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5A5A5F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EF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C225C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932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52B"/>
                          </a:solidFill>
                          <a:latin typeface="Arial"/>
                        </a:defRPr>
                      </a:pPr>
                      <a:r>
                        <a:t>Deep-dive analyses: sweetspots, route groups, seasonality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C225C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454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52B"/>
                          </a:solidFill>
                          <a:latin typeface="Arial"/>
                        </a:defRPr>
                      </a:pPr>
                      <a:r>
                        <a:t>Optimization modeling: theoretical fuel model, capacity screen,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C225C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5A5A5F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EF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454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52B"/>
                          </a:solidFill>
                          <a:latin typeface="Arial"/>
                        </a:defRPr>
                      </a:pPr>
                      <a:r>
                        <a:t>Final synthesis: recommendations and presentation 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0C225C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EAB6B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EA7D1A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436217" y="59372"/>
            <a:ext cx="2406841" cy="549738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99189" y="8681"/>
            <a:ext cx="1950451" cy="262225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ctr">
              <a:defRPr sz="1400" b="1">
                <a:solidFill>
                  <a:srgbClr val="0C225C"/>
                </a:solidFill>
                <a:latin typeface="Arial"/>
              </a:defRPr>
            </a:pPr>
            <a:r>
              <a:rPr sz="1200" dirty="0"/>
              <a:t>Legend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7929" y="246962"/>
            <a:ext cx="697009" cy="319796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750" b="0">
                <a:solidFill>
                  <a:srgbClr val="20252B"/>
                </a:solidFill>
                <a:latin typeface="Arial"/>
              </a:defRPr>
            </a:pPr>
            <a:r>
              <a:rPr dirty="0"/>
              <a:t>R = Responsible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5894" y="233709"/>
            <a:ext cx="697009" cy="319796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750" b="0">
                <a:solidFill>
                  <a:srgbClr val="20252B"/>
                </a:solidFill>
                <a:latin typeface="Arial"/>
              </a:defRPr>
            </a:pPr>
            <a:r>
              <a:rPr dirty="0"/>
              <a:t>A = Accountable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836" y="230237"/>
            <a:ext cx="697009" cy="319796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750" b="0">
                <a:solidFill>
                  <a:srgbClr val="20252B"/>
                </a:solidFill>
                <a:latin typeface="Arial"/>
              </a:defRPr>
            </a:pPr>
            <a:r>
              <a:rPr dirty="0"/>
              <a:t>C = Consulted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3453" y="222547"/>
            <a:ext cx="697009" cy="308392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750" b="0">
                <a:solidFill>
                  <a:srgbClr val="20252B"/>
                </a:solidFill>
                <a:latin typeface="Arial"/>
              </a:defRPr>
            </a:pPr>
            <a:r>
              <a:rPr dirty="0"/>
              <a:t>I =</a:t>
            </a:r>
            <a:endParaRPr lang="en-GB" dirty="0"/>
          </a:p>
          <a:p>
            <a:pPr algn="l">
              <a:defRPr sz="750" b="0">
                <a:solidFill>
                  <a:srgbClr val="20252B"/>
                </a:solidFill>
                <a:latin typeface="Arial"/>
              </a:defRPr>
            </a:pPr>
            <a:r>
              <a:rPr dirty="0"/>
              <a:t> Informed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D442B9-3512-079C-5DF4-9EB72D838B44}"/>
              </a:ext>
            </a:extLst>
          </p:cNvPr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29908"/>
            <a:ext cx="268695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5C"/>
                </a:solidFill>
                <a:latin typeface="Arial"/>
              </a:defRPr>
            </a:pPr>
            <a:r>
              <a:rPr sz="2600" dirty="0"/>
              <a:t>Any questions?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113" y="1494118"/>
            <a:ext cx="8763773" cy="2981870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156001" y="1804351"/>
            <a:ext cx="831997" cy="763143"/>
          </a:xfrm>
          <a:prstGeom prst="ellipse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56001" y="1911823"/>
            <a:ext cx="831997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3200" dirty="0"/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1519" y="2604070"/>
            <a:ext cx="4939581" cy="523842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ctr">
              <a:defRPr sz="2800" b="1">
                <a:solidFill>
                  <a:srgbClr val="0C225C"/>
                </a:solidFill>
                <a:latin typeface="Arial"/>
              </a:defRPr>
            </a:pPr>
            <a:r>
              <a:rPr dirty="0"/>
              <a:t>Ask away!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D3F87-0F9C-47DE-7B31-6A20716A94D9}"/>
              </a:ext>
            </a:extLst>
          </p:cNvPr>
          <p:cNvSpPr txBox="1"/>
          <p:nvPr/>
        </p:nvSpPr>
        <p:spPr>
          <a:xfrm>
            <a:off x="2725837" y="3438144"/>
            <a:ext cx="3692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Thanks for the attention!!</a:t>
            </a:r>
            <a:endParaRPr lang="pt-BR" sz="2400" b="1" dirty="0"/>
          </a:p>
        </p:txBody>
      </p:sp>
      <p:pic>
        <p:nvPicPr>
          <p:cNvPr id="4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04B7D2F7-AFF2-D949-3EC7-22402A372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03382C-4B99-343D-B11A-C2ECDE667D2F}"/>
              </a:ext>
            </a:extLst>
          </p:cNvPr>
          <p:cNvSpPr/>
          <p:nvPr/>
        </p:nvSpPr>
        <p:spPr>
          <a:xfrm>
            <a:off x="164592" y="749808"/>
            <a:ext cx="8641080" cy="18288"/>
          </a:xfrm>
          <a:prstGeom prst="rect">
            <a:avLst/>
          </a:prstGeom>
          <a:solidFill>
            <a:srgbClr val="23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5C"/>
                </a:solidFill>
                <a:latin typeface="Arial"/>
              </a:defRPr>
            </a:pPr>
            <a:r>
              <a:t>Project roadmap and work division</a:t>
            </a:r>
          </a:p>
        </p:txBody>
      </p:sp>
      <p:sp>
        <p:nvSpPr>
          <p:cNvPr id="3" name="Rectangle 2"/>
          <p:cNvSpPr/>
          <p:nvPr/>
        </p:nvSpPr>
        <p:spPr>
          <a:xfrm flipV="1">
            <a:off x="411480" y="667512"/>
            <a:ext cx="8501026" cy="45720"/>
          </a:xfrm>
          <a:prstGeom prst="rect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1727327" y="3076552"/>
            <a:ext cx="365760" cy="0"/>
          </a:xfrm>
          <a:prstGeom prst="line">
            <a:avLst/>
          </a:prstGeom>
          <a:ln w="25400">
            <a:solidFill>
              <a:srgbClr val="235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1616798"/>
            <a:ext cx="1005840" cy="384048"/>
          </a:xfrm>
          <a:prstGeom prst="roundRect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607654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443" y="2322576"/>
            <a:ext cx="1594884" cy="1426462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603" y="2392649"/>
            <a:ext cx="1372342" cy="1204021"/>
          </a:xfrm>
          <a:prstGeom prst="rect">
            <a:avLst/>
          </a:prstGeom>
          <a:noFill/>
        </p:spPr>
        <p:txBody>
          <a:bodyPr wrap="square" lIns="54864" tIns="43891" rIns="54864" bIns="32918" anchor="ctr">
            <a:spAutoFit/>
          </a:bodyPr>
          <a:lstStyle/>
          <a:p>
            <a:pPr algn="l">
              <a:defRPr sz="1220" b="0">
                <a:solidFill>
                  <a:srgbClr val="20252B"/>
                </a:solidFill>
                <a:latin typeface="Arial"/>
              </a:defRPr>
            </a:pPr>
            <a:r>
              <a:rPr dirty="0"/>
              <a:t>Data foundation</a:t>
            </a:r>
            <a:br>
              <a:rPr dirty="0"/>
            </a:br>
            <a:r>
              <a:rPr dirty="0"/>
              <a:t>Burak + Eduardo</a:t>
            </a:r>
            <a:br>
              <a:rPr dirty="0"/>
            </a:br>
            <a:r>
              <a:rPr dirty="0"/>
              <a:t>Cleaning, assumptions,</a:t>
            </a:r>
            <a:br>
              <a:rPr dirty="0"/>
            </a:br>
            <a:r>
              <a:rPr dirty="0"/>
              <a:t>and comparable TOW bands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3549183" y="3048772"/>
            <a:ext cx="314724" cy="0"/>
          </a:xfrm>
          <a:prstGeom prst="line">
            <a:avLst/>
          </a:prstGeom>
          <a:ln w="25400">
            <a:solidFill>
              <a:srgbClr val="235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16779" y="1625942"/>
            <a:ext cx="1005840" cy="384048"/>
          </a:xfrm>
          <a:prstGeom prst="roundRect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16779" y="1616798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57543" y="2322576"/>
            <a:ext cx="1691640" cy="14264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94703" y="2392649"/>
            <a:ext cx="1455597" cy="1204021"/>
          </a:xfrm>
          <a:prstGeom prst="rect">
            <a:avLst/>
          </a:prstGeom>
          <a:noFill/>
        </p:spPr>
        <p:txBody>
          <a:bodyPr wrap="square" lIns="54864" tIns="43891" rIns="54864" bIns="32918" anchor="ctr">
            <a:spAutoFit/>
          </a:bodyPr>
          <a:lstStyle/>
          <a:p>
            <a:pPr algn="l">
              <a:defRPr sz="1220" b="0">
                <a:solidFill>
                  <a:srgbClr val="20252B"/>
                </a:solidFill>
                <a:latin typeface="Arial"/>
              </a:defRPr>
            </a:pPr>
            <a:r>
              <a:rPr dirty="0"/>
              <a:t>Checkpoint #1 refinement</a:t>
            </a:r>
            <a:br>
              <a:rPr dirty="0"/>
            </a:br>
            <a:r>
              <a:rPr dirty="0"/>
              <a:t>Robert + Alexandre</a:t>
            </a:r>
            <a:br>
              <a:rPr dirty="0"/>
            </a:br>
            <a:r>
              <a:rPr dirty="0"/>
              <a:t>Clearer visuals and</a:t>
            </a:r>
            <a:br>
              <a:rPr dirty="0"/>
            </a:br>
            <a:r>
              <a:rPr dirty="0"/>
              <a:t>more comparable evidence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5340379" y="3078928"/>
            <a:ext cx="314724" cy="0"/>
          </a:xfrm>
          <a:prstGeom prst="line">
            <a:avLst/>
          </a:prstGeom>
          <a:ln w="25400">
            <a:solidFill>
              <a:srgbClr val="235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99860" y="1607654"/>
            <a:ext cx="1005840" cy="384048"/>
          </a:xfrm>
          <a:prstGeom prst="roundRect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99860" y="1598510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9413" y="2320317"/>
            <a:ext cx="1691640" cy="1426462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6573" y="2318063"/>
            <a:ext cx="1455597" cy="1348676"/>
          </a:xfrm>
          <a:prstGeom prst="rect">
            <a:avLst/>
          </a:prstGeom>
          <a:noFill/>
        </p:spPr>
        <p:txBody>
          <a:bodyPr wrap="square" lIns="54864" tIns="43891" rIns="54864" bIns="32918" anchor="ctr">
            <a:spAutoFit/>
          </a:bodyPr>
          <a:lstStyle/>
          <a:p>
            <a:pPr algn="l">
              <a:defRPr sz="1180" b="0">
                <a:solidFill>
                  <a:srgbClr val="20252B"/>
                </a:solidFill>
                <a:latin typeface="Arial"/>
              </a:defRPr>
            </a:pPr>
            <a:r>
              <a:rPr dirty="0"/>
              <a:t>Deep-dive analyses</a:t>
            </a:r>
            <a:br>
              <a:rPr dirty="0"/>
            </a:br>
            <a:r>
              <a:rPr dirty="0"/>
              <a:t>Burak + Robert</a:t>
            </a:r>
            <a:br>
              <a:rPr dirty="0"/>
            </a:br>
            <a:r>
              <a:rPr dirty="0" err="1"/>
              <a:t>Sweetspots</a:t>
            </a:r>
            <a:r>
              <a:rPr dirty="0"/>
              <a:t>, route groups,</a:t>
            </a:r>
            <a:br>
              <a:rPr dirty="0"/>
            </a:br>
            <a:r>
              <a:rPr dirty="0"/>
              <a:t>and seasonal trade studies</a:t>
            </a:r>
            <a:br>
              <a:rPr dirty="0"/>
            </a:br>
            <a:r>
              <a:rPr dirty="0"/>
              <a:t>.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>
            <a:off x="7315200" y="3078928"/>
            <a:ext cx="340241" cy="0"/>
          </a:xfrm>
          <a:prstGeom prst="line">
            <a:avLst/>
          </a:prstGeom>
          <a:ln w="25400">
            <a:solidFill>
              <a:srgbClr val="235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21912" y="1607654"/>
            <a:ext cx="1005840" cy="384048"/>
          </a:xfrm>
          <a:prstGeom prst="roundRect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21912" y="1598510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56152" y="2298773"/>
            <a:ext cx="1828800" cy="142646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93312" y="2274974"/>
            <a:ext cx="1573619" cy="1391765"/>
          </a:xfrm>
          <a:prstGeom prst="rect">
            <a:avLst/>
          </a:prstGeom>
          <a:noFill/>
        </p:spPr>
        <p:txBody>
          <a:bodyPr wrap="square" lIns="54864" tIns="43891" rIns="54864" bIns="32918" anchor="ctr">
            <a:spAutoFit/>
          </a:bodyPr>
          <a:lstStyle/>
          <a:p>
            <a:pPr algn="l">
              <a:defRPr sz="1220" b="0">
                <a:solidFill>
                  <a:srgbClr val="20252B"/>
                </a:solidFill>
                <a:latin typeface="Arial"/>
              </a:defRPr>
            </a:pPr>
            <a:r>
              <a:t>Optimization modeling</a:t>
            </a:r>
            <a:br/>
            <a:r>
              <a:t>Eduardo + Alexandre</a:t>
            </a:r>
            <a:br/>
            <a:r>
              <a:t>Theoretical fuel model,</a:t>
            </a:r>
            <a:br/>
            <a:r>
              <a:t>capacity screen, 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80" y="1607654"/>
            <a:ext cx="1005840" cy="384048"/>
          </a:xfrm>
          <a:prstGeom prst="roundRect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80" y="1598510"/>
            <a:ext cx="10058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Goal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20299" y="2298767"/>
            <a:ext cx="1573619" cy="1426463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57459" y="2462718"/>
            <a:ext cx="1354045" cy="1016278"/>
          </a:xfrm>
          <a:prstGeom prst="rect">
            <a:avLst/>
          </a:prstGeom>
          <a:noFill/>
        </p:spPr>
        <p:txBody>
          <a:bodyPr wrap="square" lIns="54864" tIns="43891" rIns="54864" bIns="32918" anchor="ctr">
            <a:spAutoFit/>
          </a:bodyPr>
          <a:lstStyle/>
          <a:p>
            <a:pPr algn="l">
              <a:defRPr sz="1220" b="0">
                <a:solidFill>
                  <a:srgbClr val="20252B"/>
                </a:solidFill>
                <a:latin typeface="Arial"/>
              </a:defRPr>
            </a:pPr>
            <a:r>
              <a:t>All four members</a:t>
            </a:r>
            <a:br/>
            <a:r>
              <a:t>Actionable reassignment</a:t>
            </a:r>
            <a:br/>
            <a:r>
              <a:t>options and final story</a:t>
            </a:r>
          </a:p>
        </p:txBody>
      </p:sp>
      <p:pic>
        <p:nvPicPr>
          <p:cNvPr id="4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9B85D9A4-D45D-298F-E24E-F2CC1E98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63608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5C"/>
                </a:solidFill>
                <a:latin typeface="Arial"/>
              </a:defRPr>
            </a:pPr>
            <a:r>
              <a:rPr sz="2400" dirty="0"/>
              <a:t>Planned Analysis: Relations and Evidence</a:t>
            </a:r>
          </a:p>
        </p:txBody>
      </p:sp>
      <p:sp>
        <p:nvSpPr>
          <p:cNvPr id="3" name="Rectangle 2"/>
          <p:cNvSpPr/>
          <p:nvPr/>
        </p:nvSpPr>
        <p:spPr>
          <a:xfrm flipV="1">
            <a:off x="411480" y="667512"/>
            <a:ext cx="8046720" cy="45720"/>
          </a:xfrm>
          <a:prstGeom prst="rect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210" y="1105324"/>
            <a:ext cx="3664545" cy="1665597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406" y="1269916"/>
            <a:ext cx="3331405" cy="323780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600" b="1">
                <a:solidFill>
                  <a:srgbClr val="0C225C"/>
                </a:solidFill>
                <a:latin typeface="Arial"/>
              </a:defRPr>
            </a:pPr>
            <a:r>
              <a:t>1. Data filtering and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246" y="1727116"/>
            <a:ext cx="3364718" cy="654640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250" b="0">
                <a:solidFill>
                  <a:srgbClr val="20252B"/>
                </a:solidFill>
                <a:latin typeface="Arial"/>
              </a:defRPr>
            </a:pPr>
            <a:r>
              <a:t>• Filtering count chart and before-vs-after scatterplots to show how cleaning changes the dataset and improves reliability.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0987" y="1106713"/>
            <a:ext cx="3664545" cy="166559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5578" y="1271305"/>
            <a:ext cx="3331405" cy="570002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600" b="1">
                <a:solidFill>
                  <a:srgbClr val="0C225C"/>
                </a:solidFill>
                <a:latin typeface="Arial"/>
              </a:defRPr>
            </a:pPr>
            <a:r>
              <a:t>2. Within-aircraft operating 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5578" y="1728505"/>
            <a:ext cx="3364718" cy="847000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250" b="0">
                <a:solidFill>
                  <a:srgbClr val="20252B"/>
                </a:solidFill>
                <a:latin typeface="Arial"/>
              </a:defRPr>
            </a:pPr>
            <a:r>
              <a:t>• Scatterplots with trend lines for TOW vs fuel burn, distance vs trip time, and trip time vs fuel burn to identify operating profiles and efficiency deterioration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210" y="3163013"/>
            <a:ext cx="3664545" cy="1665597"/>
          </a:xfrm>
          <a:prstGeom prst="roundRect">
            <a:avLst/>
          </a:prstGeom>
          <a:solidFill>
            <a:srgbClr val="ECF3FC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406" y="3327605"/>
            <a:ext cx="3331405" cy="570002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600" b="1">
                <a:solidFill>
                  <a:srgbClr val="0C225C"/>
                </a:solidFill>
                <a:latin typeface="Arial"/>
              </a:defRPr>
            </a:pPr>
            <a:r>
              <a:t>3. Comparable aircraft-to-aircraft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246" y="3784805"/>
            <a:ext cx="3364718" cy="847000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250" b="0">
                <a:solidFill>
                  <a:srgbClr val="20252B"/>
                </a:solidFill>
                <a:latin typeface="Arial"/>
              </a:defRPr>
            </a:pPr>
            <a:r>
              <a:t>• Overlay scatterplots, sweetspot range charts, and capacity-screening tables to compare aircraft only in overlapping TOW, distance, and route conditions.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0987" y="3164402"/>
            <a:ext cx="3664545" cy="166559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5578" y="3328994"/>
            <a:ext cx="3331405" cy="570002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600" b="1">
                <a:solidFill>
                  <a:srgbClr val="0C225C"/>
                </a:solidFill>
                <a:latin typeface="Arial"/>
              </a:defRPr>
            </a:pPr>
            <a:r>
              <a:t>4. Route and seasonal trade studies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5578" y="3786194"/>
            <a:ext cx="3364718" cy="654640"/>
          </a:xfrm>
          <a:prstGeom prst="rect">
            <a:avLst/>
          </a:prstGeom>
          <a:noFill/>
        </p:spPr>
        <p:txBody>
          <a:bodyPr wrap="square" lIns="54864" tIns="43891" rIns="54864" bIns="32918" anchor="t">
            <a:spAutoFit/>
          </a:bodyPr>
          <a:lstStyle/>
          <a:p>
            <a:pPr algn="l">
              <a:defRPr sz="1250" b="0">
                <a:solidFill>
                  <a:srgbClr val="20252B"/>
                </a:solidFill>
                <a:latin typeface="Arial"/>
              </a:defRPr>
            </a:pPr>
            <a:r>
              <a:t>• Route heatmaps, monthly trend charts, and route-group comparison tables to test where reassignment is operationally realistic.</a:t>
            </a:r>
          </a:p>
        </p:txBody>
      </p:sp>
      <p:pic>
        <p:nvPicPr>
          <p:cNvPr id="5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980071E0-C4D0-B2B7-900E-E99793A12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01" y="58283"/>
            <a:ext cx="1182316" cy="66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C0B8B379AB7F4A83B1DF49B257CC00" ma:contentTypeVersion="13" ma:contentTypeDescription="Create a new document." ma:contentTypeScope="" ma:versionID="26af5c37b981b10f8d2645fe988d0f02">
  <xsd:schema xmlns:xsd="http://www.w3.org/2001/XMLSchema" xmlns:xs="http://www.w3.org/2001/XMLSchema" xmlns:p="http://schemas.microsoft.com/office/2006/metadata/properties" xmlns:ns3="2b213029-6727-4e9a-b9de-76830b0b0eef" xmlns:ns4="369cbb38-375c-4afd-9df0-a0a22bf5ebbc" targetNamespace="http://schemas.microsoft.com/office/2006/metadata/properties" ma:root="true" ma:fieldsID="0e48968097c6028cb5e34c228b30adaf" ns3:_="" ns4:_="">
    <xsd:import namespace="2b213029-6727-4e9a-b9de-76830b0b0eef"/>
    <xsd:import namespace="369cbb38-375c-4afd-9df0-a0a22bf5ebb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213029-6727-4e9a-b9de-76830b0b0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9cbb38-375c-4afd-9df0-a0a22bf5ebb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213029-6727-4e9a-b9de-76830b0b0eef" xsi:nil="true"/>
  </documentManagement>
</p:properties>
</file>

<file path=customXml/itemProps1.xml><?xml version="1.0" encoding="utf-8"?>
<ds:datastoreItem xmlns:ds="http://schemas.openxmlformats.org/officeDocument/2006/customXml" ds:itemID="{07E9DAD4-8470-46E6-B7A4-C68DA4B246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D0DBA8-36F4-4564-B356-7477BAFEC4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213029-6727-4e9a-b9de-76830b0b0eef"/>
    <ds:schemaRef ds:uri="369cbb38-375c-4afd-9df0-a0a22bf5eb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D935B3-4FD9-4FD1-A525-CF433D438731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2b213029-6727-4e9a-b9de-76830b0b0eef"/>
    <ds:schemaRef ds:uri="http://purl.org/dc/terms/"/>
    <ds:schemaRef ds:uri="369cbb38-375c-4afd-9df0-a0a22bf5ebbc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1354</Words>
  <Application>Microsoft Office PowerPoint</Application>
  <PresentationFormat>On-screen Show (16:9)</PresentationFormat>
  <Paragraphs>178</Paragraphs>
  <Slides>12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Eduardo Monteiro Rosa de Souza</dc:creator>
  <cp:keywords/>
  <dc:description>generated using python-pptx</dc:description>
  <cp:lastModifiedBy>Eduardo Monteiro Rosa de Souza</cp:lastModifiedBy>
  <cp:revision>5</cp:revision>
  <dcterms:created xsi:type="dcterms:W3CDTF">2013-01-27T09:14:16Z</dcterms:created>
  <dcterms:modified xsi:type="dcterms:W3CDTF">2026-05-20T09:09:24Z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0x010100D1C0B8B379AB7F4A83B1DF49B257CC00</vt:lpwstr>
  </property>
</Properties>
</file>